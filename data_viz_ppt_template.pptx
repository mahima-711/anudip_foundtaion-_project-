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70" r:id="rId8"/>
    <p:sldId id="261" r:id="rId9"/>
    <p:sldId id="278" r:id="rId10"/>
    <p:sldId id="279" r:id="rId11"/>
    <p:sldId id="263" r:id="rId12"/>
    <p:sldId id="264" r:id="rId13"/>
    <p:sldId id="265" r:id="rId14"/>
    <p:sldId id="266" r:id="rId15"/>
    <p:sldId id="281" r:id="rId16"/>
    <p:sldId id="268" r:id="rId17"/>
    <p:sldId id="269" r:id="rId18"/>
    <p:sldId id="267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D23EF1-A8A6-4389-96EC-E0374032CD79}" v="3" dt="2026-04-23T09:43:14.6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uti sengupta" userId="af3ef6a018a1e37d" providerId="LiveId" clId="{7182D07F-5BED-46EC-BB7E-F7CB285B2614}"/>
    <pc:docChg chg="custSel addSld delSld modSld">
      <pc:chgData name="shruti sengupta" userId="af3ef6a018a1e37d" providerId="LiveId" clId="{7182D07F-5BED-46EC-BB7E-F7CB285B2614}" dt="2026-04-23T09:43:16.727" v="189" actId="47"/>
      <pc:docMkLst>
        <pc:docMk/>
      </pc:docMkLst>
      <pc:sldChg chg="modSp mod">
        <pc:chgData name="shruti sengupta" userId="af3ef6a018a1e37d" providerId="LiveId" clId="{7182D07F-5BED-46EC-BB7E-F7CB285B2614}" dt="2026-04-23T09:42:38.937" v="176" actId="27636"/>
        <pc:sldMkLst>
          <pc:docMk/>
          <pc:sldMk cId="0" sldId="256"/>
        </pc:sldMkLst>
        <pc:spChg chg="mod">
          <ac:chgData name="shruti sengupta" userId="af3ef6a018a1e37d" providerId="LiveId" clId="{7182D07F-5BED-46EC-BB7E-F7CB285B2614}" dt="2026-04-23T09:42:38.937" v="176" actId="276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hruti sengupta" userId="af3ef6a018a1e37d" providerId="LiveId" clId="{7182D07F-5BED-46EC-BB7E-F7CB285B2614}" dt="2026-04-23T09:07:15.711" v="42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shruti sengupta" userId="af3ef6a018a1e37d" providerId="LiveId" clId="{7182D07F-5BED-46EC-BB7E-F7CB285B2614}" dt="2026-04-23T09:42:38.946" v="177" actId="27636"/>
        <pc:sldMkLst>
          <pc:docMk/>
          <pc:sldMk cId="0" sldId="257"/>
        </pc:sldMkLst>
        <pc:spChg chg="mod">
          <ac:chgData name="shruti sengupta" userId="af3ef6a018a1e37d" providerId="LiveId" clId="{7182D07F-5BED-46EC-BB7E-F7CB285B2614}" dt="2026-04-23T09:42:38.946" v="177" actId="2763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shruti sengupta" userId="af3ef6a018a1e37d" providerId="LiveId" clId="{7182D07F-5BED-46EC-BB7E-F7CB285B2614}" dt="2026-04-23T09:42:38.949" v="178" actId="27636"/>
        <pc:sldMkLst>
          <pc:docMk/>
          <pc:sldMk cId="0" sldId="258"/>
        </pc:sldMkLst>
        <pc:spChg chg="mod">
          <ac:chgData name="shruti sengupta" userId="af3ef6a018a1e37d" providerId="LiveId" clId="{7182D07F-5BED-46EC-BB7E-F7CB285B2614}" dt="2026-04-23T09:42:38.949" v="178" actId="2763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shruti sengupta" userId="af3ef6a018a1e37d" providerId="LiveId" clId="{7182D07F-5BED-46EC-BB7E-F7CB285B2614}" dt="2026-04-23T09:42:38.961" v="179" actId="27636"/>
        <pc:sldMkLst>
          <pc:docMk/>
          <pc:sldMk cId="0" sldId="259"/>
        </pc:sldMkLst>
        <pc:spChg chg="mod">
          <ac:chgData name="shruti sengupta" userId="af3ef6a018a1e37d" providerId="LiveId" clId="{7182D07F-5BED-46EC-BB7E-F7CB285B2614}" dt="2026-04-23T09:42:38.961" v="179" actId="2763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shruti sengupta" userId="af3ef6a018a1e37d" providerId="LiveId" clId="{7182D07F-5BED-46EC-BB7E-F7CB285B2614}" dt="2026-04-23T09:42:38.965" v="180" actId="27636"/>
        <pc:sldMkLst>
          <pc:docMk/>
          <pc:sldMk cId="0" sldId="260"/>
        </pc:sldMkLst>
        <pc:spChg chg="mod">
          <ac:chgData name="shruti sengupta" userId="af3ef6a018a1e37d" providerId="LiveId" clId="{7182D07F-5BED-46EC-BB7E-F7CB285B2614}" dt="2026-04-23T09:42:38.965" v="180" actId="2763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shruti sengupta" userId="af3ef6a018a1e37d" providerId="LiveId" clId="{7182D07F-5BED-46EC-BB7E-F7CB285B2614}" dt="2026-04-23T09:08:09.272" v="47" actId="27636"/>
        <pc:sldMkLst>
          <pc:docMk/>
          <pc:sldMk cId="0" sldId="261"/>
        </pc:sldMkLst>
        <pc:spChg chg="mod">
          <ac:chgData name="shruti sengupta" userId="af3ef6a018a1e37d" providerId="LiveId" clId="{7182D07F-5BED-46EC-BB7E-F7CB285B2614}" dt="2026-04-23T09:08:09.272" v="47" actId="27636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shruti sengupta" userId="af3ef6a018a1e37d" providerId="LiveId" clId="{7182D07F-5BED-46EC-BB7E-F7CB285B2614}" dt="2026-04-23T09:42:38.890" v="173" actId="27636"/>
        <pc:sldMkLst>
          <pc:docMk/>
          <pc:sldMk cId="0" sldId="262"/>
        </pc:sldMkLst>
        <pc:spChg chg="mod">
          <ac:chgData name="shruti sengupta" userId="af3ef6a018a1e37d" providerId="LiveId" clId="{7182D07F-5BED-46EC-BB7E-F7CB285B2614}" dt="2026-04-23T09:42:38.890" v="173" actId="27636"/>
          <ac:spMkLst>
            <pc:docMk/>
            <pc:sldMk cId="0" sldId="262"/>
            <ac:spMk id="2" creationId="{00000000-0000-0000-0000-000000000000}"/>
          </ac:spMkLst>
        </pc:spChg>
        <pc:spChg chg="mod">
          <ac:chgData name="shruti sengupta" userId="af3ef6a018a1e37d" providerId="LiveId" clId="{7182D07F-5BED-46EC-BB7E-F7CB285B2614}" dt="2026-04-23T09:08:33.239" v="49" actId="27636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shruti sengupta" userId="af3ef6a018a1e37d" providerId="LiveId" clId="{7182D07F-5BED-46EC-BB7E-F7CB285B2614}" dt="2026-04-23T09:08:45.583" v="51" actId="27636"/>
        <pc:sldMkLst>
          <pc:docMk/>
          <pc:sldMk cId="0" sldId="263"/>
        </pc:sldMkLst>
        <pc:spChg chg="mod">
          <ac:chgData name="shruti sengupta" userId="af3ef6a018a1e37d" providerId="LiveId" clId="{7182D07F-5BED-46EC-BB7E-F7CB285B2614}" dt="2026-04-23T09:08:45.583" v="51" actId="27636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shruti sengupta" userId="af3ef6a018a1e37d" providerId="LiveId" clId="{7182D07F-5BED-46EC-BB7E-F7CB285B2614}" dt="2026-04-23T09:42:38.898" v="174" actId="27636"/>
        <pc:sldMkLst>
          <pc:docMk/>
          <pc:sldMk cId="0" sldId="264"/>
        </pc:sldMkLst>
        <pc:spChg chg="mod">
          <ac:chgData name="shruti sengupta" userId="af3ef6a018a1e37d" providerId="LiveId" clId="{7182D07F-5BED-46EC-BB7E-F7CB285B2614}" dt="2026-04-23T09:42:38.898" v="174" actId="27636"/>
          <ac:spMkLst>
            <pc:docMk/>
            <pc:sldMk cId="0" sldId="264"/>
            <ac:spMk id="2" creationId="{00000000-0000-0000-0000-000000000000}"/>
          </ac:spMkLst>
        </pc:spChg>
        <pc:spChg chg="mod">
          <ac:chgData name="shruti sengupta" userId="af3ef6a018a1e37d" providerId="LiveId" clId="{7182D07F-5BED-46EC-BB7E-F7CB285B2614}" dt="2026-04-23T09:09:21.597" v="55" actId="27636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shruti sengupta" userId="af3ef6a018a1e37d" providerId="LiveId" clId="{7182D07F-5BED-46EC-BB7E-F7CB285B2614}" dt="2026-04-23T09:42:38.905" v="175" actId="27636"/>
        <pc:sldMkLst>
          <pc:docMk/>
          <pc:sldMk cId="0" sldId="265"/>
        </pc:sldMkLst>
        <pc:spChg chg="mod">
          <ac:chgData name="shruti sengupta" userId="af3ef6a018a1e37d" providerId="LiveId" clId="{7182D07F-5BED-46EC-BB7E-F7CB285B2614}" dt="2026-04-23T09:42:38.905" v="175" actId="27636"/>
          <ac:spMkLst>
            <pc:docMk/>
            <pc:sldMk cId="0" sldId="265"/>
            <ac:spMk id="2" creationId="{00000000-0000-0000-0000-000000000000}"/>
          </ac:spMkLst>
        </pc:spChg>
        <pc:spChg chg="mod">
          <ac:chgData name="shruti sengupta" userId="af3ef6a018a1e37d" providerId="LiveId" clId="{7182D07F-5BED-46EC-BB7E-F7CB285B2614}" dt="2026-04-23T09:09:37.573" v="60" actId="27636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shruti sengupta" userId="af3ef6a018a1e37d" providerId="LiveId" clId="{7182D07F-5BED-46EC-BB7E-F7CB285B2614}" dt="2026-04-23T09:10:00.422" v="63" actId="20577"/>
        <pc:sldMkLst>
          <pc:docMk/>
          <pc:sldMk cId="0" sldId="266"/>
        </pc:sldMkLst>
        <pc:spChg chg="mod">
          <ac:chgData name="shruti sengupta" userId="af3ef6a018a1e37d" providerId="LiveId" clId="{7182D07F-5BED-46EC-BB7E-F7CB285B2614}" dt="2026-04-23T09:10:00.422" v="63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shruti sengupta" userId="af3ef6a018a1e37d" providerId="LiveId" clId="{7182D07F-5BED-46EC-BB7E-F7CB285B2614}" dt="2026-04-23T09:09:50.687" v="62" actId="27636"/>
          <ac:spMkLst>
            <pc:docMk/>
            <pc:sldMk cId="0" sldId="266"/>
            <ac:spMk id="3" creationId="{00000000-0000-0000-0000-000000000000}"/>
          </ac:spMkLst>
        </pc:spChg>
      </pc:sldChg>
      <pc:sldChg chg="modSp del mod">
        <pc:chgData name="shruti sengupta" userId="af3ef6a018a1e37d" providerId="LiveId" clId="{7182D07F-5BED-46EC-BB7E-F7CB285B2614}" dt="2026-04-23T09:42:50.205" v="182" actId="2696"/>
        <pc:sldMkLst>
          <pc:docMk/>
          <pc:sldMk cId="0" sldId="267"/>
        </pc:sldMkLst>
        <pc:spChg chg="mod">
          <ac:chgData name="shruti sengupta" userId="af3ef6a018a1e37d" providerId="LiveId" clId="{7182D07F-5BED-46EC-BB7E-F7CB285B2614}" dt="2026-04-23T09:10:08.436" v="65" actId="27636"/>
          <ac:spMkLst>
            <pc:docMk/>
            <pc:sldMk cId="0" sldId="267"/>
            <ac:spMk id="3" creationId="{00000000-0000-0000-0000-000000000000}"/>
          </ac:spMkLst>
        </pc:spChg>
      </pc:sldChg>
      <pc:sldChg chg="add">
        <pc:chgData name="shruti sengupta" userId="af3ef6a018a1e37d" providerId="LiveId" clId="{7182D07F-5BED-46EC-BB7E-F7CB285B2614}" dt="2026-04-23T09:42:58.416" v="184"/>
        <pc:sldMkLst>
          <pc:docMk/>
          <pc:sldMk cId="768273623" sldId="267"/>
        </pc:sldMkLst>
      </pc:sldChg>
      <pc:sldChg chg="modSp mod">
        <pc:chgData name="shruti sengupta" userId="af3ef6a018a1e37d" providerId="LiveId" clId="{7182D07F-5BED-46EC-BB7E-F7CB285B2614}" dt="2026-04-23T09:10:24.584" v="67" actId="27636"/>
        <pc:sldMkLst>
          <pc:docMk/>
          <pc:sldMk cId="0" sldId="268"/>
        </pc:sldMkLst>
        <pc:spChg chg="mod">
          <ac:chgData name="shruti sengupta" userId="af3ef6a018a1e37d" providerId="LiveId" clId="{7182D07F-5BED-46EC-BB7E-F7CB285B2614}" dt="2026-04-23T09:10:24.584" v="67" actId="27636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shruti sengupta" userId="af3ef6a018a1e37d" providerId="LiveId" clId="{7182D07F-5BED-46EC-BB7E-F7CB285B2614}" dt="2026-04-23T09:10:59.501" v="106" actId="27636"/>
        <pc:sldMkLst>
          <pc:docMk/>
          <pc:sldMk cId="0" sldId="269"/>
        </pc:sldMkLst>
        <pc:spChg chg="mod">
          <ac:chgData name="shruti sengupta" userId="af3ef6a018a1e37d" providerId="LiveId" clId="{7182D07F-5BED-46EC-BB7E-F7CB285B2614}" dt="2026-04-23T09:10:54.002" v="104" actId="6549"/>
          <ac:spMkLst>
            <pc:docMk/>
            <pc:sldMk cId="0" sldId="269"/>
            <ac:spMk id="2" creationId="{00000000-0000-0000-0000-000000000000}"/>
          </ac:spMkLst>
        </pc:spChg>
        <pc:spChg chg="mod">
          <ac:chgData name="shruti sengupta" userId="af3ef6a018a1e37d" providerId="LiveId" clId="{7182D07F-5BED-46EC-BB7E-F7CB285B2614}" dt="2026-04-23T09:10:59.501" v="106" actId="27636"/>
          <ac:spMkLst>
            <pc:docMk/>
            <pc:sldMk cId="0" sldId="269"/>
            <ac:spMk id="3" creationId="{00000000-0000-0000-0000-000000000000}"/>
          </ac:spMkLst>
        </pc:spChg>
      </pc:sldChg>
      <pc:sldChg chg="modSp del mod">
        <pc:chgData name="shruti sengupta" userId="af3ef6a018a1e37d" providerId="LiveId" clId="{7182D07F-5BED-46EC-BB7E-F7CB285B2614}" dt="2026-04-23T09:43:09.707" v="186" actId="2696"/>
        <pc:sldMkLst>
          <pc:docMk/>
          <pc:sldMk cId="0" sldId="270"/>
        </pc:sldMkLst>
        <pc:spChg chg="mod">
          <ac:chgData name="shruti sengupta" userId="af3ef6a018a1e37d" providerId="LiveId" clId="{7182D07F-5BED-46EC-BB7E-F7CB285B2614}" dt="2026-04-23T09:12:10.354" v="118" actId="27636"/>
          <ac:spMkLst>
            <pc:docMk/>
            <pc:sldMk cId="0" sldId="270"/>
            <ac:spMk id="3" creationId="{00000000-0000-0000-0000-000000000000}"/>
          </ac:spMkLst>
        </pc:spChg>
      </pc:sldChg>
      <pc:sldChg chg="add">
        <pc:chgData name="shruti sengupta" userId="af3ef6a018a1e37d" providerId="LiveId" clId="{7182D07F-5BED-46EC-BB7E-F7CB285B2614}" dt="2026-04-23T09:43:14.688" v="188"/>
        <pc:sldMkLst>
          <pc:docMk/>
          <pc:sldMk cId="2831141123" sldId="270"/>
        </pc:sldMkLst>
      </pc:sldChg>
      <pc:sldChg chg="modSp del mod">
        <pc:chgData name="shruti sengupta" userId="af3ef6a018a1e37d" providerId="LiveId" clId="{7182D07F-5BED-46EC-BB7E-F7CB285B2614}" dt="2026-04-23T09:42:30.840" v="170" actId="2696"/>
        <pc:sldMkLst>
          <pc:docMk/>
          <pc:sldMk cId="0" sldId="271"/>
        </pc:sldMkLst>
        <pc:spChg chg="mod">
          <ac:chgData name="shruti sengupta" userId="af3ef6a018a1e37d" providerId="LiveId" clId="{7182D07F-5BED-46EC-BB7E-F7CB285B2614}" dt="2026-04-23T09:12:33.026" v="123" actId="20577"/>
          <ac:spMkLst>
            <pc:docMk/>
            <pc:sldMk cId="0" sldId="271"/>
            <ac:spMk id="3" creationId="{00000000-0000-0000-0000-000000000000}"/>
          </ac:spMkLst>
        </pc:spChg>
      </pc:sldChg>
      <pc:sldChg chg="add">
        <pc:chgData name="shruti sengupta" userId="af3ef6a018a1e37d" providerId="LiveId" clId="{7182D07F-5BED-46EC-BB7E-F7CB285B2614}" dt="2026-04-23T09:42:38.805" v="172"/>
        <pc:sldMkLst>
          <pc:docMk/>
          <pc:sldMk cId="998150208" sldId="271"/>
        </pc:sldMkLst>
      </pc:sldChg>
      <pc:sldChg chg="modSp mod">
        <pc:chgData name="shruti sengupta" userId="af3ef6a018a1e37d" providerId="LiveId" clId="{7182D07F-5BED-46EC-BB7E-F7CB285B2614}" dt="2026-04-23T09:13:13.838" v="135" actId="20577"/>
        <pc:sldMkLst>
          <pc:docMk/>
          <pc:sldMk cId="0" sldId="272"/>
        </pc:sldMkLst>
        <pc:spChg chg="mod">
          <ac:chgData name="shruti sengupta" userId="af3ef6a018a1e37d" providerId="LiveId" clId="{7182D07F-5BED-46EC-BB7E-F7CB285B2614}" dt="2026-04-23T09:13:13.838" v="135" actId="20577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shruti sengupta" userId="af3ef6a018a1e37d" providerId="LiveId" clId="{7182D07F-5BED-46EC-BB7E-F7CB285B2614}" dt="2026-04-23T09:13:39.269" v="140" actId="20577"/>
        <pc:sldMkLst>
          <pc:docMk/>
          <pc:sldMk cId="0" sldId="273"/>
        </pc:sldMkLst>
        <pc:spChg chg="mod">
          <ac:chgData name="shruti sengupta" userId="af3ef6a018a1e37d" providerId="LiveId" clId="{7182D07F-5BED-46EC-BB7E-F7CB285B2614}" dt="2026-04-23T09:13:39.269" v="140" actId="20577"/>
          <ac:spMkLst>
            <pc:docMk/>
            <pc:sldMk cId="0" sldId="273"/>
            <ac:spMk id="3" creationId="{00000000-0000-0000-0000-000000000000}"/>
          </ac:spMkLst>
        </pc:spChg>
      </pc:sldChg>
      <pc:sldChg chg="modSp mod">
        <pc:chgData name="shruti sengupta" userId="af3ef6a018a1e37d" providerId="LiveId" clId="{7182D07F-5BED-46EC-BB7E-F7CB285B2614}" dt="2026-04-23T09:13:51.365" v="143" actId="1076"/>
        <pc:sldMkLst>
          <pc:docMk/>
          <pc:sldMk cId="0" sldId="274"/>
        </pc:sldMkLst>
        <pc:spChg chg="mod">
          <ac:chgData name="shruti sengupta" userId="af3ef6a018a1e37d" providerId="LiveId" clId="{7182D07F-5BED-46EC-BB7E-F7CB285B2614}" dt="2026-04-23T09:13:51.365" v="143" actId="1076"/>
          <ac:spMkLst>
            <pc:docMk/>
            <pc:sldMk cId="0" sldId="274"/>
            <ac:spMk id="3" creationId="{00000000-0000-0000-0000-000000000000}"/>
          </ac:spMkLst>
        </pc:spChg>
      </pc:sldChg>
      <pc:sldChg chg="modSp mod">
        <pc:chgData name="shruti sengupta" userId="af3ef6a018a1e37d" providerId="LiveId" clId="{7182D07F-5BED-46EC-BB7E-F7CB285B2614}" dt="2026-04-23T09:14:00.444" v="145" actId="27636"/>
        <pc:sldMkLst>
          <pc:docMk/>
          <pc:sldMk cId="0" sldId="275"/>
        </pc:sldMkLst>
        <pc:spChg chg="mod">
          <ac:chgData name="shruti sengupta" userId="af3ef6a018a1e37d" providerId="LiveId" clId="{7182D07F-5BED-46EC-BB7E-F7CB285B2614}" dt="2026-04-23T09:14:00.444" v="145" actId="27636"/>
          <ac:spMkLst>
            <pc:docMk/>
            <pc:sldMk cId="0" sldId="275"/>
            <ac:spMk id="3" creationId="{00000000-0000-0000-0000-000000000000}"/>
          </ac:spMkLst>
        </pc:spChg>
      </pc:sldChg>
      <pc:sldChg chg="modSp mod">
        <pc:chgData name="shruti sengupta" userId="af3ef6a018a1e37d" providerId="LiveId" clId="{7182D07F-5BED-46EC-BB7E-F7CB285B2614}" dt="2026-04-23T09:14:20.971" v="151" actId="20577"/>
        <pc:sldMkLst>
          <pc:docMk/>
          <pc:sldMk cId="0" sldId="276"/>
        </pc:sldMkLst>
        <pc:spChg chg="mod">
          <ac:chgData name="shruti sengupta" userId="af3ef6a018a1e37d" providerId="LiveId" clId="{7182D07F-5BED-46EC-BB7E-F7CB285B2614}" dt="2026-04-23T09:14:20.971" v="151" actId="20577"/>
          <ac:spMkLst>
            <pc:docMk/>
            <pc:sldMk cId="0" sldId="276"/>
            <ac:spMk id="3" creationId="{00000000-0000-0000-0000-000000000000}"/>
          </ac:spMkLst>
        </pc:spChg>
      </pc:sldChg>
      <pc:sldChg chg="modSp mod">
        <pc:chgData name="shruti sengupta" userId="af3ef6a018a1e37d" providerId="LiveId" clId="{7182D07F-5BED-46EC-BB7E-F7CB285B2614}" dt="2026-04-23T09:14:53.114" v="169" actId="20577"/>
        <pc:sldMkLst>
          <pc:docMk/>
          <pc:sldMk cId="0" sldId="277"/>
        </pc:sldMkLst>
        <pc:spChg chg="mod">
          <ac:chgData name="shruti sengupta" userId="af3ef6a018a1e37d" providerId="LiveId" clId="{7182D07F-5BED-46EC-BB7E-F7CB285B2614}" dt="2026-04-23T09:14:53.114" v="169" actId="20577"/>
          <ac:spMkLst>
            <pc:docMk/>
            <pc:sldMk cId="0" sldId="277"/>
            <ac:spMk id="3" creationId="{00000000-0000-0000-0000-000000000000}"/>
          </ac:spMkLst>
        </pc:spChg>
      </pc:sldChg>
      <pc:sldChg chg="addSp delSp modSp mod">
        <pc:chgData name="shruti sengupta" userId="af3ef6a018a1e37d" providerId="LiveId" clId="{7182D07F-5BED-46EC-BB7E-F7CB285B2614}" dt="2026-04-23T09:08:02.359" v="45" actId="478"/>
        <pc:sldMkLst>
          <pc:docMk/>
          <pc:sldMk cId="0" sldId="278"/>
        </pc:sldMkLst>
        <pc:spChg chg="del mod">
          <ac:chgData name="shruti sengupta" userId="af3ef6a018a1e37d" providerId="LiveId" clId="{7182D07F-5BED-46EC-BB7E-F7CB285B2614}" dt="2026-04-23T09:08:02.359" v="45" actId="478"/>
          <ac:spMkLst>
            <pc:docMk/>
            <pc:sldMk cId="0" sldId="278"/>
            <ac:spMk id="3" creationId="{00000000-0000-0000-0000-000000000000}"/>
          </ac:spMkLst>
        </pc:spChg>
        <pc:spChg chg="add mod">
          <ac:chgData name="shruti sengupta" userId="af3ef6a018a1e37d" providerId="LiveId" clId="{7182D07F-5BED-46EC-BB7E-F7CB285B2614}" dt="2026-04-23T09:08:02.359" v="45" actId="478"/>
          <ac:spMkLst>
            <pc:docMk/>
            <pc:sldMk cId="0" sldId="278"/>
            <ac:spMk id="5" creationId="{F1719564-510F-011F-B61F-6A21CAB37E47}"/>
          </ac:spMkLst>
        </pc:spChg>
      </pc:sldChg>
      <pc:sldChg chg="modSp new mod">
        <pc:chgData name="shruti sengupta" userId="af3ef6a018a1e37d" providerId="LiveId" clId="{7182D07F-5BED-46EC-BB7E-F7CB285B2614}" dt="2026-04-23T08:55:37.840" v="32" actId="20577"/>
        <pc:sldMkLst>
          <pc:docMk/>
          <pc:sldMk cId="768855134" sldId="278"/>
        </pc:sldMkLst>
        <pc:spChg chg="mod">
          <ac:chgData name="shruti sengupta" userId="af3ef6a018a1e37d" providerId="LiveId" clId="{7182D07F-5BED-46EC-BB7E-F7CB285B2614}" dt="2026-04-23T08:55:37.840" v="32" actId="20577"/>
          <ac:spMkLst>
            <pc:docMk/>
            <pc:sldMk cId="768855134" sldId="278"/>
            <ac:spMk id="2" creationId="{3B4F0A62-9443-59F7-8598-AA603C83B51F}"/>
          </ac:spMkLst>
        </pc:spChg>
      </pc:sldChg>
      <pc:sldChg chg="new del">
        <pc:chgData name="shruti sengupta" userId="af3ef6a018a1e37d" providerId="LiveId" clId="{7182D07F-5BED-46EC-BB7E-F7CB285B2614}" dt="2026-04-23T09:43:16.727" v="189" actId="47"/>
        <pc:sldMkLst>
          <pc:docMk/>
          <pc:sldMk cId="72129802" sldId="279"/>
        </pc:sldMkLst>
      </pc:sldChg>
      <pc:sldChg chg="new del">
        <pc:chgData name="shruti sengupta" userId="af3ef6a018a1e37d" providerId="LiveId" clId="{7182D07F-5BED-46EC-BB7E-F7CB285B2614}" dt="2026-04-23T09:42:41.347" v="181" actId="47"/>
        <pc:sldMkLst>
          <pc:docMk/>
          <pc:sldMk cId="2188424143" sldId="279"/>
        </pc:sldMkLst>
      </pc:sldChg>
      <pc:sldChg chg="new del">
        <pc:chgData name="shruti sengupta" userId="af3ef6a018a1e37d" providerId="LiveId" clId="{7182D07F-5BED-46EC-BB7E-F7CB285B2614}" dt="2026-04-23T09:43:00.260" v="185" actId="47"/>
        <pc:sldMkLst>
          <pc:docMk/>
          <pc:sldMk cId="3422354163" sldId="27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216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467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875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882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77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813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416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786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134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611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27848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6320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7098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170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9883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93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02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sa.gov/wp-content/uploads/2024/04/nasa-space-sustainability-strategy-march-20-2024-tagged3.pdf" TargetMode="External"/><Relationship Id="rId2" Type="http://schemas.openxmlformats.org/officeDocument/2006/relationships/hyperlink" Target="https://svs.gsfc.nasa.gov/5258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5468" y="76201"/>
            <a:ext cx="6163733" cy="1210734"/>
          </a:xfrm>
        </p:spPr>
        <p:txBody>
          <a:bodyPr>
            <a:normAutofit/>
          </a:bodyPr>
          <a:lstStyle/>
          <a:p>
            <a:r>
              <a:rPr lang="en-US" b="1" dirty="0"/>
              <a:t>DATA ANALYTICS / DATA VISUALISATION </a:t>
            </a:r>
            <a:r>
              <a:rPr lang="en-US" b="1" dirty="0" smtClean="0"/>
              <a:t>INTERNSHIP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1174" y="3044856"/>
            <a:ext cx="8596668" cy="3880773"/>
          </a:xfrm>
        </p:spPr>
        <p:txBody>
          <a:bodyPr>
            <a:normAutofit/>
          </a:bodyPr>
          <a:lstStyle/>
          <a:p>
            <a:r>
              <a:rPr lang="en-US" dirty="0" smtClean="0"/>
              <a:t>Names </a:t>
            </a:r>
            <a:r>
              <a:rPr lang="en-US" dirty="0" smtClean="0"/>
              <a:t>: </a:t>
            </a:r>
            <a:r>
              <a:rPr lang="en-US" dirty="0" err="1" smtClean="0"/>
              <a:t>Mahima</a:t>
            </a:r>
            <a:r>
              <a:rPr lang="en-US" dirty="0" smtClean="0"/>
              <a:t> </a:t>
            </a:r>
            <a:r>
              <a:rPr lang="en-US" dirty="0" smtClean="0"/>
              <a:t>M , </a:t>
            </a:r>
            <a:r>
              <a:rPr lang="en-US" dirty="0" err="1" smtClean="0"/>
              <a:t>Niharika</a:t>
            </a:r>
            <a:r>
              <a:rPr lang="en-US" dirty="0" smtClean="0"/>
              <a:t> BA</a:t>
            </a:r>
            <a:endParaRPr lang="en-US" dirty="0" smtClean="0"/>
          </a:p>
          <a:p>
            <a:r>
              <a:rPr lang="en-US" dirty="0" smtClean="0"/>
              <a:t>AFID</a:t>
            </a:r>
            <a:r>
              <a:rPr lang="en-US" dirty="0"/>
              <a:t>: </a:t>
            </a:r>
            <a:r>
              <a:rPr lang="en-IN" dirty="0">
                <a:solidFill>
                  <a:schemeClr val="tx1"/>
                </a:solidFill>
              </a:rPr>
              <a:t>AF05117635 , AF05117567</a:t>
            </a:r>
            <a:endParaRPr lang="en-US" dirty="0" smtClean="0"/>
          </a:p>
          <a:p>
            <a:r>
              <a:rPr lang="en-US" dirty="0" smtClean="0"/>
              <a:t>Institute</a:t>
            </a:r>
            <a:r>
              <a:rPr lang="en-US" dirty="0"/>
              <a:t>: </a:t>
            </a:r>
            <a:r>
              <a:rPr lang="en-US" dirty="0" smtClean="0"/>
              <a:t>Sai </a:t>
            </a:r>
            <a:r>
              <a:rPr lang="en-US" dirty="0" err="1" smtClean="0"/>
              <a:t>Vidya</a:t>
            </a:r>
            <a:r>
              <a:rPr lang="en-US" dirty="0" smtClean="0"/>
              <a:t> Institute Of Technology</a:t>
            </a:r>
            <a:endParaRPr lang="en-US" dirty="0"/>
          </a:p>
          <a:p>
            <a:r>
              <a:rPr lang="en-US" dirty="0"/>
              <a:t>Guide / Mentor: </a:t>
            </a:r>
            <a:r>
              <a:rPr lang="en-IN" dirty="0" err="1">
                <a:solidFill>
                  <a:schemeClr val="tx1"/>
                </a:solidFill>
              </a:rPr>
              <a:t>Shruti</a:t>
            </a:r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IN" dirty="0" err="1">
                <a:solidFill>
                  <a:schemeClr val="tx1"/>
                </a:solidFill>
              </a:rPr>
              <a:t>Sengupta</a:t>
            </a:r>
            <a:r>
              <a:rPr lang="en-IN" dirty="0">
                <a:solidFill>
                  <a:schemeClr val="tx1"/>
                </a:solidFill>
              </a:rPr>
              <a:t> </a:t>
            </a:r>
            <a:endParaRPr lang="en-IN" dirty="0" smtClean="0">
              <a:solidFill>
                <a:schemeClr val="tx1"/>
              </a:solidFill>
            </a:endParaRPr>
          </a:p>
          <a:p>
            <a:r>
              <a:rPr lang="en-US" dirty="0" smtClean="0"/>
              <a:t>Organization</a:t>
            </a:r>
            <a:r>
              <a:rPr lang="en-US" dirty="0"/>
              <a:t>: </a:t>
            </a:r>
            <a:r>
              <a:rPr lang="en-IN" dirty="0" err="1" smtClean="0">
                <a:solidFill>
                  <a:schemeClr val="tx1"/>
                </a:solidFill>
              </a:rPr>
              <a:t>Anudip</a:t>
            </a:r>
            <a:r>
              <a:rPr lang="en-IN" dirty="0" smtClean="0">
                <a:solidFill>
                  <a:schemeClr val="tx1"/>
                </a:solidFill>
              </a:rPr>
              <a:t> Foundation</a:t>
            </a:r>
            <a:endParaRPr lang="en-US" dirty="0" smtClean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 smtClean="0"/>
              <a:t>Academic </a:t>
            </a:r>
            <a:r>
              <a:rPr lang="en-US" dirty="0"/>
              <a:t>Year: 2024-26</a:t>
            </a:r>
          </a:p>
        </p:txBody>
      </p:sp>
      <p:sp>
        <p:nvSpPr>
          <p:cNvPr id="4" name="Rectangle 3"/>
          <p:cNvSpPr/>
          <p:nvPr/>
        </p:nvSpPr>
        <p:spPr>
          <a:xfrm>
            <a:off x="3702706" y="1671176"/>
            <a:ext cx="341471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000" dirty="0">
                <a:solidFill>
                  <a:schemeClr val="tx2"/>
                </a:solidFill>
              </a:rPr>
              <a:t> Space Debris </a:t>
            </a:r>
            <a:endParaRPr lang="en-IN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2910" y="101600"/>
            <a:ext cx="3615267" cy="40163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400" y="1879496"/>
            <a:ext cx="8810413" cy="5313783"/>
          </a:xfrm>
        </p:spPr>
        <p:txBody>
          <a:bodyPr>
            <a:noAutofit/>
          </a:bodyPr>
          <a:lstStyle/>
          <a:p>
            <a:r>
              <a:rPr lang="en-US" sz="2000" dirty="0" smtClean="0"/>
              <a:t>The problem addressed is the increasing accumulation of debris, which poses threats to satellites, space missions, and overall space sustainability.</a:t>
            </a:r>
          </a:p>
          <a:p>
            <a:r>
              <a:rPr lang="en-US" sz="2000" dirty="0" smtClean="0"/>
              <a:t>focusing on analyzing the distribution and characteristics of space debris to understand congestion risk in Earth’s orbital regions. </a:t>
            </a:r>
          </a:p>
          <a:p>
            <a:r>
              <a:rPr lang="en-US" sz="2000" dirty="0"/>
              <a:t>Rising satellite launches are increasing space debris and collision risks.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b="1" dirty="0" smtClean="0"/>
              <a:t>Covers:</a:t>
            </a:r>
          </a:p>
          <a:p>
            <a:r>
              <a:rPr lang="en-US" sz="2000" dirty="0" smtClean="0"/>
              <a:t>Analysis of space debris data (altitude, orbital band, risk, inclination) </a:t>
            </a:r>
          </a:p>
          <a:p>
            <a:r>
              <a:rPr lang="en-US" sz="2000" dirty="0" smtClean="0"/>
              <a:t>Identification of patterns in </a:t>
            </a:r>
            <a:r>
              <a:rPr lang="en-US" sz="2000" b="1" dirty="0" smtClean="0"/>
              <a:t>orbital congestion and risk levels</a:t>
            </a:r>
            <a:r>
              <a:rPr lang="en-US" sz="2000" dirty="0" smtClean="0"/>
              <a:t> </a:t>
            </a:r>
          </a:p>
          <a:p>
            <a:r>
              <a:rPr lang="en-US" sz="2000" dirty="0" smtClean="0"/>
              <a:t>Visualization and statistical analysis (correlation, regression, hypothesis testing)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960669" y="979230"/>
            <a:ext cx="22813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Project Overview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374" y="680720"/>
            <a:ext cx="6347713" cy="1320800"/>
          </a:xfrm>
        </p:spPr>
        <p:txBody>
          <a:bodyPr/>
          <a:lstStyle/>
          <a:p>
            <a:r>
              <a:rPr lang="en-US"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853" y="2152125"/>
            <a:ext cx="9543627" cy="3880773"/>
          </a:xfrm>
        </p:spPr>
        <p:txBody>
          <a:bodyPr>
            <a:normAutofit/>
          </a:bodyPr>
          <a:lstStyle/>
          <a:p>
            <a:r>
              <a:rPr lang="en-US" sz="2000" dirty="0"/>
              <a:t>With the increasing number of satellites and defunct objects in orbit, space debris has become a major challenge, causing higher collision risks and orbital congestion. This impacts satellite communication, navigation systems, and future space missions.</a:t>
            </a:r>
          </a:p>
          <a:p>
            <a:r>
              <a:rPr lang="en-US" sz="2000" dirty="0"/>
              <a:t>Existing systems mainly monitor debris positions but do not provide detailed analysis of congestion patterns, risk levels, and orbital region behavior, creating a gap in effective decision-making.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240" y="1931991"/>
            <a:ext cx="7390807" cy="4560249"/>
          </a:xfrm>
        </p:spPr>
        <p:txBody>
          <a:bodyPr>
            <a:normAutofit/>
          </a:bodyPr>
          <a:lstStyle/>
          <a:p>
            <a:r>
              <a:rPr lang="en-US" sz="2000" dirty="0"/>
              <a:t>Collect and preprocess real-world space debris data </a:t>
            </a:r>
          </a:p>
          <a:p>
            <a:r>
              <a:rPr lang="en-US" sz="2000" dirty="0"/>
              <a:t>Perform exploratory analysis to identify patterns and trends </a:t>
            </a:r>
          </a:p>
          <a:p>
            <a:r>
              <a:rPr lang="en-US" sz="2000" dirty="0"/>
              <a:t>Create meaningful visualizations for clear insights </a:t>
            </a:r>
          </a:p>
          <a:p>
            <a:r>
              <a:rPr lang="en-US" sz="2000" dirty="0"/>
              <a:t>Apply statistical methods to validate findings </a:t>
            </a:r>
          </a:p>
          <a:p>
            <a:r>
              <a:rPr lang="en-US" sz="2000" dirty="0"/>
              <a:t>Present results through an interactive dashboard/report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54002"/>
            <a:ext cx="8596668" cy="1320800"/>
          </a:xfrm>
        </p:spPr>
        <p:txBody>
          <a:bodyPr/>
          <a:lstStyle/>
          <a:p>
            <a:r>
              <a:rPr lang="en-US" b="1" dirty="0"/>
              <a:t>BUSINESS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7196" y="1198882"/>
            <a:ext cx="873694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Real-World Impact:</a:t>
            </a:r>
            <a:r>
              <a:rPr lang="en-US" altLang="en-US" dirty="0">
                <a:latin typeface="Arial" panose="020B0604020202020204" pitchFamily="34" charset="0"/>
              </a:rPr>
              <a:t> Helps in understanding orbital congestion and supports decisions to reduce collision risks and improve satellite safety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Industry Domain:</a:t>
            </a:r>
            <a:r>
              <a:rPr lang="en-US" altLang="en-US" dirty="0">
                <a:latin typeface="Arial" panose="020B0604020202020204" pitchFamily="34" charset="0"/>
              </a:rPr>
              <a:t> Space Technology / Aerospace / Environment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Stakeholders:</a:t>
            </a:r>
            <a:r>
              <a:rPr lang="en-US" altLang="en-US" dirty="0">
                <a:latin typeface="Arial" panose="020B0604020202020204" pitchFamily="34" charset="0"/>
              </a:rPr>
              <a:t> Space agencies (NASA, ISRO), satellite operators, private space companies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Scale:</a:t>
            </a:r>
            <a:r>
              <a:rPr lang="en-US" altLang="en-US" dirty="0">
                <a:latin typeface="Arial" panose="020B0604020202020204" pitchFamily="34" charset="0"/>
              </a:rPr>
              <a:t> Large-scale dataset of thousands of space objects across multiple orbital regions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Business Question:</a:t>
            </a:r>
            <a:r>
              <a:rPr lang="en-US" altLang="en-US" dirty="0">
                <a:latin typeface="Arial" panose="020B0604020202020204" pitchFamily="34" charset="0"/>
              </a:rPr>
              <a:t/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“</a:t>
            </a:r>
            <a:r>
              <a:rPr lang="en-US" dirty="0"/>
              <a:t>Which orbital bands are most crowded, and how can this impact future satellite deployments</a:t>
            </a:r>
            <a:r>
              <a:rPr lang="en-US" altLang="en-US" dirty="0">
                <a:latin typeface="Arial" panose="020B0604020202020204" pitchFamily="34" charset="0"/>
              </a:rPr>
              <a:t>?”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Potential Outcome / ROI:</a:t>
            </a:r>
            <a:r>
              <a:rPr lang="en-US" altLang="en-US" dirty="0">
                <a:latin typeface="Arial" panose="020B0604020202020204" pitchFamily="34" charset="0"/>
              </a:rPr>
              <a:t/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Improved mission planning, reduced risk of satellite damage, and better long-term sustainability of space operations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8336" y="284480"/>
            <a:ext cx="6347713" cy="1320800"/>
          </a:xfrm>
        </p:spPr>
        <p:txBody>
          <a:bodyPr/>
          <a:lstStyle/>
          <a:p>
            <a:r>
              <a:rPr lang="en-US" b="1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336" y="1325226"/>
            <a:ext cx="8229600" cy="5299095"/>
          </a:xfrm>
        </p:spPr>
        <p:txBody>
          <a:bodyPr>
            <a:noAutofit/>
          </a:bodyPr>
          <a:lstStyle/>
          <a:p>
            <a:r>
              <a:rPr lang="en-US" b="1" dirty="0"/>
              <a:t>Data Collection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Gathered space debris data from multiple sources </a:t>
            </a:r>
          </a:p>
          <a:p>
            <a:r>
              <a:rPr lang="en-US" b="1" dirty="0"/>
              <a:t>Data Preprocessing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Cleaned data by handling missing values, duplicates, and formatting </a:t>
            </a:r>
          </a:p>
          <a:p>
            <a:r>
              <a:rPr lang="en-US" b="1" dirty="0"/>
              <a:t>Data Integration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Merged datasets using a common key (</a:t>
            </a:r>
            <a:r>
              <a:rPr lang="en-US" dirty="0" err="1"/>
              <a:t>object_id</a:t>
            </a:r>
            <a:r>
              <a:rPr lang="en-US" dirty="0"/>
              <a:t>) </a:t>
            </a:r>
          </a:p>
          <a:p>
            <a:r>
              <a:rPr lang="en-US" b="1" dirty="0"/>
              <a:t>Exploratory Data Analysis (EDA)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Analyzed patterns in altitude, orbital bands, and congestion risk </a:t>
            </a:r>
          </a:p>
          <a:p>
            <a:r>
              <a:rPr lang="en-US" b="1" dirty="0"/>
              <a:t>Visualization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Used charts (pie, dot plot, etc.) to represent insights clearly </a:t>
            </a:r>
          </a:p>
          <a:p>
            <a:r>
              <a:rPr lang="en-US" b="1" dirty="0"/>
              <a:t>Statistical Analysis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Applied correlation, regression, and hypothesis testing </a:t>
            </a:r>
          </a:p>
          <a:p>
            <a:r>
              <a:rPr lang="en-US" b="1" dirty="0"/>
              <a:t>Result Interpretation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Derived meaningful insights for congestion and risk patterns </a:t>
            </a:r>
          </a:p>
          <a:p>
            <a:pPr marL="0" indent="0">
              <a:buNone/>
            </a:pPr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150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0868" y="1765055"/>
            <a:ext cx="8229600" cy="4525963"/>
          </a:xfrm>
        </p:spPr>
        <p:txBody>
          <a:bodyPr>
            <a:normAutofit/>
          </a:bodyPr>
          <a:lstStyle/>
          <a:p>
            <a:pPr lvl="0"/>
            <a:r>
              <a:rPr lang="en-US" b="1" dirty="0"/>
              <a:t>Programming Language :</a:t>
            </a:r>
            <a:r>
              <a:rPr lang="en-US" dirty="0"/>
              <a:t>  Python  in (</a:t>
            </a:r>
            <a:r>
              <a:rPr lang="en-US" dirty="0" err="1"/>
              <a:t>Jupyter</a:t>
            </a:r>
            <a:r>
              <a:rPr lang="en-US" dirty="0"/>
              <a:t> Notebook)</a:t>
            </a:r>
            <a:endParaRPr lang="en-IN" dirty="0"/>
          </a:p>
          <a:p>
            <a:endParaRPr lang="en-IN" dirty="0"/>
          </a:p>
          <a:p>
            <a:pPr lvl="0"/>
            <a:r>
              <a:rPr lang="en-US" b="1" dirty="0"/>
              <a:t>Libraries Used</a:t>
            </a:r>
            <a:r>
              <a:rPr lang="en-US" dirty="0"/>
              <a:t> :</a:t>
            </a:r>
            <a:endParaRPr lang="en-IN" dirty="0"/>
          </a:p>
          <a:p>
            <a:pPr lvl="0"/>
            <a:r>
              <a:rPr lang="en-IN" dirty="0"/>
              <a:t>Pandas → Data manipulation and </a:t>
            </a:r>
            <a:r>
              <a:rPr lang="en-IN" dirty="0" err="1"/>
              <a:t>preprocessing</a:t>
            </a:r>
            <a:r>
              <a:rPr lang="en-IN" dirty="0"/>
              <a:t> </a:t>
            </a:r>
          </a:p>
          <a:p>
            <a:pPr lvl="0"/>
            <a:r>
              <a:rPr lang="en-IN" dirty="0" err="1"/>
              <a:t>NumPy</a:t>
            </a:r>
            <a:r>
              <a:rPr lang="en-IN" dirty="0"/>
              <a:t> → Numerical computations </a:t>
            </a:r>
          </a:p>
          <a:p>
            <a:pPr lvl="0"/>
            <a:r>
              <a:rPr lang="en-IN" dirty="0" err="1"/>
              <a:t>Matplotlib</a:t>
            </a:r>
            <a:r>
              <a:rPr lang="en-IN" dirty="0"/>
              <a:t> → Data visualization </a:t>
            </a:r>
          </a:p>
          <a:p>
            <a:pPr marL="0" indent="0">
              <a:buNone/>
            </a:pPr>
            <a:endParaRPr lang="en-IN" dirty="0"/>
          </a:p>
          <a:p>
            <a:pPr lvl="0"/>
            <a:r>
              <a:rPr lang="en-US" b="1" dirty="0"/>
              <a:t>Data Handling :</a:t>
            </a:r>
            <a:r>
              <a:rPr lang="en-US" dirty="0"/>
              <a:t> CSV datasets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lvl="0"/>
            <a:r>
              <a:rPr lang="en-US" b="1" dirty="0"/>
              <a:t>Dashboards</a:t>
            </a:r>
            <a:r>
              <a:rPr lang="en-US" dirty="0"/>
              <a:t> : Power BI</a:t>
            </a:r>
            <a:endParaRPr lang="en-IN" dirty="0"/>
          </a:p>
          <a:p>
            <a:r>
              <a:rPr lang="en-US" b="1" dirty="0"/>
              <a:t>Queries for Analysis</a:t>
            </a:r>
            <a:r>
              <a:rPr lang="en-US" dirty="0"/>
              <a:t> :  </a:t>
            </a:r>
            <a:r>
              <a:rPr lang="en-US" dirty="0" err="1"/>
              <a:t>MySql</a:t>
            </a:r>
            <a:r>
              <a:rPr lang="en-US" dirty="0"/>
              <a:t> workbench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31141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121" y="304800"/>
            <a:ext cx="6347713" cy="1320800"/>
          </a:xfrm>
        </p:spPr>
        <p:txBody>
          <a:bodyPr/>
          <a:lstStyle/>
          <a:p>
            <a:r>
              <a:rPr lang="en-US" b="1" dirty="0"/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400" y="1011238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tx2"/>
                </a:solidFill>
              </a:rPr>
              <a:t>1. Satellite Orbital Data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/>
                </a:solidFill>
              </a:rPr>
              <a:t>Source:</a:t>
            </a:r>
            <a:r>
              <a:rPr lang="en-IN" dirty="0">
                <a:solidFill>
                  <a:schemeClr val="tx2"/>
                </a:solidFill>
              </a:rPr>
              <a:t> </a:t>
            </a:r>
            <a:r>
              <a:rPr lang="en-IN" dirty="0" err="1">
                <a:solidFill>
                  <a:schemeClr val="tx2"/>
                </a:solidFill>
              </a:rPr>
              <a:t>CelesTrak</a:t>
            </a:r>
            <a:r>
              <a:rPr lang="en-IN" dirty="0">
                <a:solidFill>
                  <a:schemeClr val="tx2"/>
                </a:solidFill>
              </a:rPr>
              <a:t> / Space-Track</a:t>
            </a:r>
            <a:br>
              <a:rPr lang="en-IN" dirty="0">
                <a:solidFill>
                  <a:schemeClr val="tx2"/>
                </a:solidFill>
              </a:rPr>
            </a:br>
            <a:r>
              <a:rPr lang="en-IN" b="1" dirty="0">
                <a:solidFill>
                  <a:schemeClr val="tx2"/>
                </a:solidFill>
              </a:rPr>
              <a:t>Dataset:</a:t>
            </a:r>
            <a:r>
              <a:rPr lang="en-IN" dirty="0">
                <a:solidFill>
                  <a:schemeClr val="tx2"/>
                </a:solidFill>
              </a:rPr>
              <a:t> Satellite TLE (Two-Line Element) Data</a:t>
            </a:r>
            <a:br>
              <a:rPr lang="en-IN" dirty="0">
                <a:solidFill>
                  <a:schemeClr val="tx2"/>
                </a:solidFill>
              </a:rPr>
            </a:br>
            <a:r>
              <a:rPr lang="en-IN" b="1" dirty="0">
                <a:solidFill>
                  <a:schemeClr val="tx2"/>
                </a:solidFill>
              </a:rPr>
              <a:t>Granularity:</a:t>
            </a:r>
            <a:r>
              <a:rPr lang="en-IN" dirty="0">
                <a:solidFill>
                  <a:schemeClr val="tx2"/>
                </a:solidFill>
              </a:rPr>
              <a:t> Object-level, real-time / periodic updates</a:t>
            </a:r>
            <a:br>
              <a:rPr lang="en-IN" dirty="0">
                <a:solidFill>
                  <a:schemeClr val="tx2"/>
                </a:solidFill>
              </a:rPr>
            </a:br>
            <a:r>
              <a:rPr lang="en-IN" b="1" dirty="0">
                <a:solidFill>
                  <a:schemeClr val="tx2"/>
                </a:solidFill>
              </a:rPr>
              <a:t>Key Features : </a:t>
            </a:r>
            <a:r>
              <a:rPr lang="en-IN" dirty="0">
                <a:solidFill>
                  <a:schemeClr val="tx2"/>
                </a:solidFill>
              </a:rPr>
              <a:t>Mean Motion , Eccentricity , Inclination , Epoch , Object ID</a:t>
            </a:r>
          </a:p>
          <a:p>
            <a:pPr marL="0" indent="0">
              <a:buNone/>
            </a:pPr>
            <a:endParaRPr lang="en-IN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tx2"/>
                </a:solidFill>
              </a:rPr>
              <a:t>2. Satellite Characteristics Data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/>
                </a:solidFill>
              </a:rPr>
              <a:t>Source:</a:t>
            </a:r>
            <a:r>
              <a:rPr lang="en-IN" dirty="0">
                <a:solidFill>
                  <a:schemeClr val="tx2"/>
                </a:solidFill>
              </a:rPr>
              <a:t> Union of Concerned Scientists / </a:t>
            </a:r>
            <a:r>
              <a:rPr lang="en-IN" dirty="0" err="1">
                <a:solidFill>
                  <a:schemeClr val="tx2"/>
                </a:solidFill>
              </a:rPr>
              <a:t>Kaggle</a:t>
            </a:r>
            <a:r>
              <a:rPr lang="en-IN" dirty="0">
                <a:solidFill>
                  <a:schemeClr val="tx2"/>
                </a:solidFill>
              </a:rPr>
              <a:t/>
            </a:r>
            <a:br>
              <a:rPr lang="en-IN" dirty="0">
                <a:solidFill>
                  <a:schemeClr val="tx2"/>
                </a:solidFill>
              </a:rPr>
            </a:br>
            <a:r>
              <a:rPr lang="en-IN" b="1" dirty="0">
                <a:solidFill>
                  <a:schemeClr val="tx2"/>
                </a:solidFill>
              </a:rPr>
              <a:t>Dataset:</a:t>
            </a:r>
            <a:r>
              <a:rPr lang="en-IN" dirty="0">
                <a:solidFill>
                  <a:schemeClr val="tx2"/>
                </a:solidFill>
              </a:rPr>
              <a:t> Satellite Database</a:t>
            </a:r>
            <a:br>
              <a:rPr lang="en-IN" dirty="0">
                <a:solidFill>
                  <a:schemeClr val="tx2"/>
                </a:solidFill>
              </a:rPr>
            </a:br>
            <a:r>
              <a:rPr lang="en-IN" b="1" dirty="0">
                <a:solidFill>
                  <a:schemeClr val="tx2"/>
                </a:solidFill>
              </a:rPr>
              <a:t>Granularity:</a:t>
            </a:r>
            <a:r>
              <a:rPr lang="en-IN" dirty="0">
                <a:solidFill>
                  <a:schemeClr val="tx2"/>
                </a:solidFill>
              </a:rPr>
              <a:t> Satellite-level</a:t>
            </a:r>
            <a:br>
              <a:rPr lang="en-IN" dirty="0">
                <a:solidFill>
                  <a:schemeClr val="tx2"/>
                </a:solidFill>
              </a:rPr>
            </a:br>
            <a:r>
              <a:rPr lang="en-IN" b="1" dirty="0">
                <a:solidFill>
                  <a:schemeClr val="tx2"/>
                </a:solidFill>
              </a:rPr>
              <a:t>Key Features : </a:t>
            </a:r>
            <a:r>
              <a:rPr lang="en-IN" dirty="0">
                <a:solidFill>
                  <a:schemeClr val="tx2"/>
                </a:solidFill>
              </a:rPr>
              <a:t>Country ,Purpose ,Orbital , Launch details</a:t>
            </a:r>
          </a:p>
          <a:p>
            <a:pPr marL="0" indent="0">
              <a:buNone/>
            </a:pPr>
            <a:endParaRPr lang="en-IN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tx2"/>
                </a:solidFill>
              </a:rPr>
              <a:t>3. Space Environment &amp; Orbit Data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/>
                </a:solidFill>
              </a:rPr>
              <a:t>Source:</a:t>
            </a:r>
            <a:r>
              <a:rPr lang="en-IN" dirty="0">
                <a:solidFill>
                  <a:schemeClr val="tx2"/>
                </a:solidFill>
              </a:rPr>
              <a:t> NASA Open Data Portal</a:t>
            </a:r>
            <a:br>
              <a:rPr lang="en-IN" dirty="0">
                <a:solidFill>
                  <a:schemeClr val="tx2"/>
                </a:solidFill>
              </a:rPr>
            </a:br>
            <a:r>
              <a:rPr lang="en-IN" b="1" dirty="0">
                <a:solidFill>
                  <a:schemeClr val="tx2"/>
                </a:solidFill>
              </a:rPr>
              <a:t>Dataset:</a:t>
            </a:r>
            <a:r>
              <a:rPr lang="en-IN" dirty="0">
                <a:solidFill>
                  <a:schemeClr val="tx2"/>
                </a:solidFill>
              </a:rPr>
              <a:t> Orbital Debris / Space Object Data</a:t>
            </a:r>
            <a:br>
              <a:rPr lang="en-IN" dirty="0">
                <a:solidFill>
                  <a:schemeClr val="tx2"/>
                </a:solidFill>
              </a:rPr>
            </a:br>
            <a:r>
              <a:rPr lang="en-IN" b="1" dirty="0">
                <a:solidFill>
                  <a:schemeClr val="tx2"/>
                </a:solidFill>
              </a:rPr>
              <a:t>Granularity:</a:t>
            </a:r>
            <a:r>
              <a:rPr lang="en-IN" dirty="0">
                <a:solidFill>
                  <a:schemeClr val="tx2"/>
                </a:solidFill>
              </a:rPr>
              <a:t> Object-level</a:t>
            </a:r>
            <a:br>
              <a:rPr lang="en-IN" dirty="0">
                <a:solidFill>
                  <a:schemeClr val="tx2"/>
                </a:solidFill>
              </a:rPr>
            </a:br>
            <a:r>
              <a:rPr lang="en-IN" b="1" dirty="0">
                <a:solidFill>
                  <a:schemeClr val="tx2"/>
                </a:solidFill>
              </a:rPr>
              <a:t>Key Features : </a:t>
            </a:r>
            <a:r>
              <a:rPr lang="en-IN" dirty="0">
                <a:solidFill>
                  <a:schemeClr val="tx2"/>
                </a:solidFill>
              </a:rPr>
              <a:t>Altitude ,Orbital Band , Congestion Indicators </a:t>
            </a:r>
          </a:p>
          <a:p>
            <a:pPr marL="0" indent="0">
              <a:buNone/>
            </a:pPr>
            <a:endParaRPr lang="en-IN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880" y="152400"/>
            <a:ext cx="6347713" cy="508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ER </a:t>
            </a:r>
            <a:r>
              <a:rPr lang="en-US" b="1" dirty="0" smtClean="0"/>
              <a:t>DIAGRAM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08" r="8267"/>
          <a:stretch/>
        </p:blipFill>
        <p:spPr>
          <a:xfrm>
            <a:off x="386080" y="873760"/>
            <a:ext cx="11125200" cy="59167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516495" y="324487"/>
            <a:ext cx="6330099" cy="61885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/>
              <a:t>Data cleaning Steps</a:t>
            </a:r>
            <a:endParaRPr lang="en-IN" sz="2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75920" y="1198902"/>
            <a:ext cx="5506721" cy="1600438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IN" sz="2400" b="1" u="sng" dirty="0">
                <a:solidFill>
                  <a:srgbClr val="FF0000"/>
                </a:solidFill>
              </a:rPr>
              <a:t>Handling Missing Values</a:t>
            </a:r>
          </a:p>
          <a:p>
            <a:pPr algn="just"/>
            <a:endParaRPr lang="en-IN" sz="2000" b="1" u="sng" dirty="0">
              <a:solidFill>
                <a:schemeClr val="tx2"/>
              </a:solidFill>
            </a:endParaRPr>
          </a:p>
          <a:p>
            <a:pPr algn="just"/>
            <a:r>
              <a:rPr lang="en-US" dirty="0">
                <a:solidFill>
                  <a:schemeClr val="tx2"/>
                </a:solidFill>
              </a:rPr>
              <a:t>Identified incomplete records, removed critical missing values, and filled minor gaps using default estimates.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34894" y="1214739"/>
            <a:ext cx="5618626" cy="1384995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2. </a:t>
            </a:r>
            <a:r>
              <a:rPr lang="en-US" sz="2400" b="1" u="sng" dirty="0">
                <a:solidFill>
                  <a:srgbClr val="FF0000"/>
                </a:solidFill>
              </a:rPr>
              <a:t>Removing Duplicates</a:t>
            </a:r>
          </a:p>
          <a:p>
            <a:endParaRPr lang="en-US" sz="2400" b="1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Checked for repeated debris entries using object ID and eliminated duplicate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3202495"/>
            <a:ext cx="5577841" cy="1384995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3. </a:t>
            </a:r>
            <a:r>
              <a:rPr lang="en-US" sz="2400" b="1" u="sng" dirty="0">
                <a:solidFill>
                  <a:srgbClr val="FF0000"/>
                </a:solidFill>
              </a:rPr>
              <a:t>Standardizing Units</a:t>
            </a:r>
          </a:p>
          <a:p>
            <a:endParaRPr lang="en-US" sz="2400" b="1" u="sng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Converted all measurements into consistent units: Distance → kilometers (km) ,Velocity → km/s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4892" y="3174085"/>
            <a:ext cx="6065667" cy="2215991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3. </a:t>
            </a:r>
            <a:r>
              <a:rPr lang="en-IN" sz="2400" b="1" u="sng" dirty="0">
                <a:solidFill>
                  <a:srgbClr val="FF0000"/>
                </a:solidFill>
              </a:rPr>
              <a:t>Data Formatting &amp; Consistency</a:t>
            </a:r>
          </a:p>
          <a:p>
            <a:endParaRPr lang="en-IN" sz="2400" b="1" u="sng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chemeClr val="tx2"/>
                </a:solidFill>
              </a:rPr>
              <a:t>Standardized date formats (YYYY-MM-DD). </a:t>
            </a:r>
          </a:p>
          <a:p>
            <a:r>
              <a:rPr lang="en-IN" dirty="0">
                <a:solidFill>
                  <a:schemeClr val="tx2"/>
                </a:solidFill>
              </a:rPr>
              <a:t>Cleaned inconsistent naming (object types, country codes). </a:t>
            </a:r>
          </a:p>
          <a:p>
            <a:r>
              <a:rPr lang="en-IN" dirty="0">
                <a:solidFill>
                  <a:schemeClr val="tx2"/>
                </a:solidFill>
              </a:rPr>
              <a:t>Ensured proper column data types (numeric, categorical).</a:t>
            </a:r>
          </a:p>
        </p:txBody>
      </p:sp>
      <p:sp>
        <p:nvSpPr>
          <p:cNvPr id="9" name="Rectangle 8"/>
          <p:cNvSpPr/>
          <p:nvPr/>
        </p:nvSpPr>
        <p:spPr>
          <a:xfrm>
            <a:off x="375920" y="4989119"/>
            <a:ext cx="5506721" cy="1384995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</a:rPr>
              <a:t>4. </a:t>
            </a:r>
            <a:r>
              <a:rPr lang="en-US" sz="2400" b="1" u="sng" dirty="0">
                <a:solidFill>
                  <a:srgbClr val="FF0000"/>
                </a:solidFill>
              </a:rPr>
              <a:t>Outlier Detection</a:t>
            </a:r>
          </a:p>
          <a:p>
            <a:pPr algn="just"/>
            <a:endParaRPr lang="en-US" sz="2400" b="1" u="sng" dirty="0">
              <a:solidFill>
                <a:srgbClr val="FF0000"/>
              </a:solidFill>
            </a:endParaRPr>
          </a:p>
          <a:p>
            <a:pPr algn="just"/>
            <a:r>
              <a:rPr lang="en-US" dirty="0">
                <a:solidFill>
                  <a:schemeClr val="tx2"/>
                </a:solidFill>
              </a:rPr>
              <a:t>Identified unrealistic values (extremely high velocity and altitude). </a:t>
            </a:r>
          </a:p>
        </p:txBody>
      </p:sp>
    </p:spTree>
    <p:extLst>
      <p:ext uri="{BB962C8B-B14F-4D97-AF65-F5344CB8AC3E}">
        <p14:creationId xmlns:p14="http://schemas.microsoft.com/office/powerpoint/2010/main" val="229187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469" y="493564"/>
            <a:ext cx="8270241" cy="101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KEY ANALYTICAL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112" y="1325584"/>
            <a:ext cx="946940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How are space objects distributed across different orbital regions?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Which orbital band has the highest congestion risk?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How does altitude relate to congestion risk? </a:t>
            </a:r>
            <a:endParaRPr lang="en-US" altLang="en-US" dirty="0" smtClean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What is the distribution of objects across different risk categories? </a:t>
            </a:r>
            <a:endParaRPr lang="en-US" altLang="en-US" dirty="0" smtClean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Which orbital regions show higher inclination values? </a:t>
            </a:r>
            <a:endParaRPr lang="en-US" altLang="en-US" dirty="0" smtClean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Are there statistically significant relationships between key variables (altitude, risk, inclination)?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681" y="229918"/>
            <a:ext cx="5007674" cy="74498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EDA - </a:t>
            </a:r>
            <a:r>
              <a:rPr lang="en-US" b="1" dirty="0" smtClean="0"/>
              <a:t>VISUALISATION 1: 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128338" y="1005720"/>
            <a:ext cx="83418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dirty="0">
                <a:solidFill>
                  <a:schemeClr val="tx2"/>
                </a:solidFill>
              </a:rPr>
              <a:t>How are satellites distributed across different orbital regions?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641" y="1842628"/>
            <a:ext cx="6587797" cy="422665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97567" y="2807122"/>
            <a:ext cx="50949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Most satellites are in </a:t>
            </a:r>
            <a:r>
              <a:rPr lang="en-US" b="1" dirty="0">
                <a:solidFill>
                  <a:schemeClr val="tx2"/>
                </a:solidFill>
              </a:rPr>
              <a:t>LEO(</a:t>
            </a:r>
            <a:r>
              <a:rPr lang="en-IN" dirty="0">
                <a:solidFill>
                  <a:schemeClr val="tx2"/>
                </a:solidFill>
              </a:rPr>
              <a:t>Low Earth Orbit )</a:t>
            </a:r>
            <a:r>
              <a:rPr lang="en-US" dirty="0">
                <a:solidFill>
                  <a:schemeClr val="tx2"/>
                </a:solidFill>
              </a:rPr>
              <a:t>, making it the most crowded region; other orbits have far fewer satellites.</a:t>
            </a:r>
            <a:endParaRPr lang="en-IN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071" y="293570"/>
            <a:ext cx="8596668" cy="63205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EDA - VISUALISATION 2</a:t>
            </a:r>
            <a:r>
              <a:rPr lang="en-US" b="1" dirty="0" smtClean="0"/>
              <a:t>: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474638" y="1017929"/>
            <a:ext cx="71966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tx2"/>
                </a:solidFill>
              </a:rPr>
              <a:t>2.  How many objects fall under each congestion risk category?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80" y="1802655"/>
            <a:ext cx="5530048" cy="44264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56447" y="2386073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Most objects fall under </a:t>
            </a:r>
            <a:r>
              <a:rPr lang="en-US" b="1" dirty="0">
                <a:solidFill>
                  <a:schemeClr val="tx2"/>
                </a:solidFill>
              </a:rPr>
              <a:t>high congestion risk (~82%)</a:t>
            </a:r>
            <a:r>
              <a:rPr lang="en-US" dirty="0">
                <a:solidFill>
                  <a:schemeClr val="tx2"/>
                </a:solidFill>
              </a:rPr>
              <a:t>, while </a:t>
            </a:r>
            <a:r>
              <a:rPr lang="en-US" b="1" dirty="0">
                <a:solidFill>
                  <a:schemeClr val="tx2"/>
                </a:solidFill>
              </a:rPr>
              <a:t>medium (~13%)</a:t>
            </a:r>
            <a:r>
              <a:rPr lang="en-US" dirty="0">
                <a:solidFill>
                  <a:schemeClr val="tx2"/>
                </a:solidFill>
              </a:rPr>
              <a:t> and </a:t>
            </a:r>
            <a:r>
              <a:rPr lang="en-US" b="1" dirty="0">
                <a:solidFill>
                  <a:schemeClr val="tx2"/>
                </a:solidFill>
              </a:rPr>
              <a:t>low risk (~5%)</a:t>
            </a:r>
            <a:r>
              <a:rPr lang="en-US" dirty="0">
                <a:solidFill>
                  <a:schemeClr val="tx2"/>
                </a:solidFill>
              </a:rPr>
              <a:t> categories have significantly fewer objects, indicating a highly crowded space environment.</a:t>
            </a:r>
            <a:endParaRPr lang="en-IN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1754"/>
            <a:ext cx="8596668" cy="1320800"/>
          </a:xfrm>
        </p:spPr>
        <p:txBody>
          <a:bodyPr/>
          <a:lstStyle/>
          <a:p>
            <a:r>
              <a:rPr lang="en-US" b="1" dirty="0"/>
              <a:t>EDA - VISUALISATION 3: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669" y="1296450"/>
            <a:ext cx="70062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solidFill>
                  <a:schemeClr val="tx2"/>
                </a:solidFill>
              </a:rPr>
              <a:t>3.  Top </a:t>
            </a:r>
            <a:r>
              <a:rPr lang="en-US" dirty="0">
                <a:solidFill>
                  <a:schemeClr val="tx2"/>
                </a:solidFill>
              </a:rPr>
              <a:t>10 objects with highest altitude?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338" y="1959233"/>
            <a:ext cx="6732359" cy="436979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4050" y="3265718"/>
            <a:ext cx="468108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First four objects orbit extremely far (near 90,000 km), while the rest cluster much lower around 40,000–60,000 km, </a:t>
            </a:r>
            <a:endParaRPr lang="en-IN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52606" y="373315"/>
            <a:ext cx="68684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4.  Orbital band with highest average inclination?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41" y="819462"/>
            <a:ext cx="5349387" cy="359853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0641" y="4573188"/>
            <a:ext cx="708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Among all orbital bands, LEO-Polar orbits have the greatest average inclination, near 97</a:t>
            </a:r>
            <a:r>
              <a:rPr lang="en-US" b="1" dirty="0">
                <a:solidFill>
                  <a:schemeClr val="tx2"/>
                </a:solidFill>
              </a:rPr>
              <a:t>°</a:t>
            </a:r>
            <a:r>
              <a:rPr lang="en-US" dirty="0">
                <a:solidFill>
                  <a:schemeClr val="tx2"/>
                </a:solidFill>
              </a:rPr>
              <a:t>,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0641" y="5407903"/>
            <a:ext cx="47544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2"/>
                </a:solidFill>
              </a:rPr>
              <a:t>Geostationary Earth Orbit</a:t>
            </a:r>
          </a:p>
          <a:p>
            <a:r>
              <a:rPr lang="en-IN" dirty="0">
                <a:solidFill>
                  <a:schemeClr val="tx2"/>
                </a:solidFill>
              </a:rPr>
              <a:t>Highly Elliptical Orbit</a:t>
            </a:r>
          </a:p>
          <a:p>
            <a:r>
              <a:rPr lang="en-IN" dirty="0">
                <a:solidFill>
                  <a:schemeClr val="tx2"/>
                </a:solidFill>
              </a:rPr>
              <a:t>Medium Earth Orbit</a:t>
            </a:r>
          </a:p>
          <a:p>
            <a:r>
              <a:rPr lang="en-IN" dirty="0">
                <a:solidFill>
                  <a:schemeClr val="tx2"/>
                </a:solidFill>
              </a:rPr>
              <a:t>Low Earth Orbit</a:t>
            </a:r>
          </a:p>
        </p:txBody>
      </p:sp>
      <p:pic>
        <p:nvPicPr>
          <p:cNvPr id="2050" name="Picture 2" descr="tip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921" y="1057575"/>
            <a:ext cx="4406102" cy="2985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2748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19" y="234213"/>
            <a:ext cx="5861603" cy="660935"/>
          </a:xfrm>
        </p:spPr>
        <p:txBody>
          <a:bodyPr>
            <a:normAutofit/>
          </a:bodyPr>
          <a:lstStyle/>
          <a:p>
            <a:r>
              <a:rPr lang="en-US" b="1" dirty="0"/>
              <a:t>STATISTICAL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8319" y="1073293"/>
            <a:ext cx="655123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Correlation Hypothesis Test (Pearson Test)</a:t>
            </a:r>
          </a:p>
          <a:p>
            <a:r>
              <a:rPr lang="en-US" dirty="0">
                <a:solidFill>
                  <a:schemeClr val="tx2"/>
                </a:solidFill>
              </a:rPr>
              <a:t>        </a:t>
            </a:r>
          </a:p>
          <a:p>
            <a:r>
              <a:rPr lang="en-US" dirty="0">
                <a:solidFill>
                  <a:srgbClr val="FF0000"/>
                </a:solidFill>
              </a:rPr>
              <a:t>       H₀ </a:t>
            </a:r>
            <a:r>
              <a:rPr lang="en-US" dirty="0">
                <a:solidFill>
                  <a:schemeClr val="tx2"/>
                </a:solidFill>
              </a:rPr>
              <a:t>: No correlation between altitude and risk </a:t>
            </a:r>
          </a:p>
          <a:p>
            <a:r>
              <a:rPr lang="en-US" dirty="0">
                <a:solidFill>
                  <a:srgbClr val="FF0000"/>
                </a:solidFill>
              </a:rPr>
              <a:t>       H₁ </a:t>
            </a:r>
            <a:r>
              <a:rPr lang="en-US" dirty="0">
                <a:solidFill>
                  <a:schemeClr val="tx2"/>
                </a:solidFill>
              </a:rPr>
              <a:t>: There is a correlation </a:t>
            </a:r>
          </a:p>
          <a:p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19" y="2356266"/>
            <a:ext cx="5977145" cy="41601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99922" y="191078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Correlation (r)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       r </a:t>
            </a:r>
            <a:r>
              <a:rPr lang="en-US" dirty="0">
                <a:solidFill>
                  <a:schemeClr val="tx2"/>
                </a:solidFill>
              </a:rPr>
              <a:t>= </a:t>
            </a:r>
            <a:r>
              <a:rPr lang="en-US" b="1" dirty="0">
                <a:solidFill>
                  <a:schemeClr val="tx2"/>
                </a:solidFill>
              </a:rPr>
              <a:t>-0.041</a:t>
            </a:r>
            <a:r>
              <a:rPr lang="en-US" dirty="0">
                <a:solidFill>
                  <a:schemeClr val="tx2"/>
                </a:solidFill>
              </a:rPr>
              <a:t> → </a:t>
            </a:r>
            <a:r>
              <a:rPr lang="en-US" b="1" dirty="0">
                <a:solidFill>
                  <a:schemeClr val="tx2"/>
                </a:solidFill>
              </a:rPr>
              <a:t>Very weak negative relationship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0" y="301495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2"/>
                </a:solidFill>
              </a:rPr>
              <a:t>Significance (p-value)</a:t>
            </a:r>
          </a:p>
          <a:p>
            <a:r>
              <a:rPr lang="en-IN" dirty="0" smtClean="0">
                <a:solidFill>
                  <a:schemeClr val="tx2"/>
                </a:solidFill>
              </a:rPr>
              <a:t>      p </a:t>
            </a:r>
            <a:r>
              <a:rPr lang="en-IN" dirty="0">
                <a:solidFill>
                  <a:schemeClr val="tx2"/>
                </a:solidFill>
              </a:rPr>
              <a:t>= </a:t>
            </a:r>
            <a:r>
              <a:rPr lang="en-IN" b="1" dirty="0">
                <a:solidFill>
                  <a:schemeClr val="tx2"/>
                </a:solidFill>
              </a:rPr>
              <a:t>0.0036 &lt; </a:t>
            </a:r>
            <a:r>
              <a:rPr lang="en-IN" b="1" dirty="0" smtClean="0">
                <a:solidFill>
                  <a:schemeClr val="tx2"/>
                </a:solidFill>
              </a:rPr>
              <a:t>0.05</a:t>
            </a:r>
            <a:r>
              <a:rPr lang="en-IN" dirty="0" smtClean="0">
                <a:solidFill>
                  <a:schemeClr val="tx2"/>
                </a:solidFill>
              </a:rPr>
              <a:t>  -&gt; </a:t>
            </a:r>
            <a:r>
              <a:rPr lang="en-IN" b="1" dirty="0" smtClean="0">
                <a:solidFill>
                  <a:schemeClr val="tx2"/>
                </a:solidFill>
              </a:rPr>
              <a:t>Statistically </a:t>
            </a:r>
            <a:r>
              <a:rPr lang="en-IN" b="1" dirty="0">
                <a:solidFill>
                  <a:schemeClr val="tx2"/>
                </a:solidFill>
              </a:rPr>
              <a:t>significant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47045" y="3997444"/>
            <a:ext cx="3125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Reject Null Hypothesis (H₀)</a:t>
            </a:r>
            <a:r>
              <a:rPr lang="en-IN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15464" y="4656770"/>
            <a:ext cx="55493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tx2"/>
                </a:solidFill>
              </a:rPr>
              <a:t>There is a statistically significant relationship between altitude and congestion risk (p &lt; 0.05). However, the correlation is extremely weak (r ≈ -0.04), indicating negligible practical impact.</a:t>
            </a:r>
            <a:endParaRPr lang="en-IN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59" y="2396019"/>
            <a:ext cx="5698052" cy="429788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94921" y="94563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AutoNum type="arabicPeriod"/>
            </a:pPr>
            <a:r>
              <a:rPr lang="en-IN" b="1" dirty="0" smtClean="0">
                <a:solidFill>
                  <a:schemeClr val="tx2"/>
                </a:solidFill>
              </a:rPr>
              <a:t>R² </a:t>
            </a:r>
          </a:p>
          <a:p>
            <a:r>
              <a:rPr lang="en-IN" b="1" dirty="0">
                <a:solidFill>
                  <a:schemeClr val="tx2"/>
                </a:solidFill>
              </a:rPr>
              <a:t> </a:t>
            </a:r>
            <a:r>
              <a:rPr lang="en-IN" b="1" dirty="0" smtClean="0">
                <a:solidFill>
                  <a:schemeClr val="tx2"/>
                </a:solidFill>
              </a:rPr>
              <a:t>      0.002 </a:t>
            </a:r>
            <a:r>
              <a:rPr lang="en-IN" b="1" dirty="0">
                <a:solidFill>
                  <a:schemeClr val="tx2"/>
                </a:solidFill>
              </a:rPr>
              <a:t>= 0.2</a:t>
            </a:r>
            <a:r>
              <a:rPr lang="en-IN" b="1" dirty="0" smtClean="0">
                <a:solidFill>
                  <a:schemeClr val="tx2"/>
                </a:solidFill>
              </a:rPr>
              <a:t>% </a:t>
            </a:r>
          </a:p>
          <a:p>
            <a:r>
              <a:rPr lang="en-IN" b="1" dirty="0">
                <a:solidFill>
                  <a:schemeClr val="tx2"/>
                </a:solidFill>
              </a:rPr>
              <a:t> </a:t>
            </a:r>
            <a:r>
              <a:rPr lang="en-IN" b="1" dirty="0" smtClean="0">
                <a:solidFill>
                  <a:schemeClr val="tx2"/>
                </a:solidFill>
              </a:rPr>
              <a:t>     </a:t>
            </a:r>
            <a:r>
              <a:rPr lang="en-US" b="1" dirty="0" smtClean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0.2% of variation in risk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94921" y="225461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2. p-value</a:t>
            </a:r>
          </a:p>
          <a:p>
            <a:r>
              <a:rPr lang="en-US" b="1" dirty="0" smtClean="0">
                <a:solidFill>
                  <a:schemeClr val="tx2"/>
                </a:solidFill>
              </a:rPr>
              <a:t>    0.00358 </a:t>
            </a:r>
            <a:r>
              <a:rPr lang="en-US" b="1" dirty="0">
                <a:solidFill>
                  <a:schemeClr val="tx2"/>
                </a:solidFill>
              </a:rPr>
              <a:t>&lt; 0.05</a:t>
            </a:r>
            <a:r>
              <a:rPr lang="en-US" dirty="0">
                <a:solidFill>
                  <a:schemeClr val="tx2"/>
                </a:solidFill>
              </a:rPr>
              <a:t/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 smtClean="0">
                <a:solidFill>
                  <a:schemeClr val="tx2"/>
                </a:solidFill>
              </a:rPr>
              <a:t>     </a:t>
            </a:r>
            <a:r>
              <a:rPr lang="en-US" dirty="0">
                <a:solidFill>
                  <a:schemeClr val="tx2"/>
                </a:solidFill>
              </a:rPr>
              <a:t>Statistically significant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8294" y="342123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3. Coefficient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     Negative </a:t>
            </a:r>
            <a:r>
              <a:rPr lang="en-US" dirty="0">
                <a:solidFill>
                  <a:schemeClr val="tx2"/>
                </a:solidFill>
              </a:rPr>
              <a:t>value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 smtClean="0">
                <a:solidFill>
                  <a:schemeClr val="tx2"/>
                </a:solidFill>
              </a:rPr>
              <a:t>    As </a:t>
            </a:r>
            <a:r>
              <a:rPr lang="en-US" dirty="0">
                <a:solidFill>
                  <a:schemeClr val="tx2"/>
                </a:solidFill>
              </a:rPr>
              <a:t>altitude increases → risk slightly decreases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 smtClean="0">
                <a:solidFill>
                  <a:schemeClr val="tx2"/>
                </a:solidFill>
              </a:rPr>
              <a:t>    BUT </a:t>
            </a:r>
            <a:r>
              <a:rPr lang="en-US" dirty="0">
                <a:solidFill>
                  <a:schemeClr val="tx2"/>
                </a:solidFill>
              </a:rPr>
              <a:t>effect is </a:t>
            </a:r>
            <a:r>
              <a:rPr lang="en-US" b="1" dirty="0">
                <a:solidFill>
                  <a:schemeClr val="tx2"/>
                </a:solidFill>
              </a:rPr>
              <a:t>extremely tiny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14394" y="5053853"/>
            <a:ext cx="51144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Altitude has a statistically significant effect on risk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14394" y="5866078"/>
            <a:ext cx="47833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Reject H₀, but altitude is not a strong predictor.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86857" y="1635507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Independent Variable: Velocity (km/s)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Dependent Variable: Collision Risk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6857" y="337564"/>
            <a:ext cx="5548057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solidFill>
                  <a:schemeClr val="tx2"/>
                </a:solidFill>
              </a:rPr>
              <a:t>2. Regression </a:t>
            </a:r>
            <a:r>
              <a:rPr lang="en-IN" b="1" dirty="0">
                <a:solidFill>
                  <a:schemeClr val="tx2"/>
                </a:solidFill>
              </a:rPr>
              <a:t>Hypothesis Test (OLS</a:t>
            </a:r>
            <a:r>
              <a:rPr lang="en-IN" b="1" dirty="0" smtClean="0">
                <a:solidFill>
                  <a:schemeClr val="tx2"/>
                </a:solidFill>
              </a:rPr>
              <a:t>)</a:t>
            </a:r>
          </a:p>
          <a:p>
            <a:endParaRPr lang="en-IN" dirty="0" smtClean="0">
              <a:solidFill>
                <a:schemeClr val="tx2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chemeClr val="tx2"/>
                </a:solidFill>
                <a:latin typeface="Arial" panose="020B0604020202020204" pitchFamily="34" charset="0"/>
              </a:rPr>
              <a:t>    </a:t>
            </a:r>
            <a:r>
              <a:rPr lang="en-US" altLang="en-US" dirty="0" smtClean="0">
                <a:solidFill>
                  <a:srgbClr val="FF0000"/>
                </a:solidFill>
                <a:latin typeface="Arial" panose="020B0604020202020204" pitchFamily="34" charset="0"/>
              </a:rPr>
              <a:t>H₀ </a:t>
            </a:r>
            <a:r>
              <a:rPr lang="en-US" altLang="en-US" dirty="0" smtClean="0">
                <a:solidFill>
                  <a:schemeClr val="tx2"/>
                </a:solidFill>
                <a:latin typeface="Arial" panose="020B0604020202020204" pitchFamily="34" charset="0"/>
              </a:rPr>
              <a:t>:  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</a:rPr>
              <a:t>Altitude has no effect on risk (coefficient = 0)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chemeClr val="tx2"/>
                </a:solidFill>
                <a:latin typeface="Arial" panose="020B0604020202020204" pitchFamily="34" charset="0"/>
              </a:rPr>
              <a:t>    </a:t>
            </a:r>
            <a:r>
              <a:rPr lang="en-US" altLang="en-US" dirty="0" smtClean="0">
                <a:solidFill>
                  <a:srgbClr val="FF0000"/>
                </a:solidFill>
                <a:latin typeface="Arial" panose="020B0604020202020204" pitchFamily="34" charset="0"/>
              </a:rPr>
              <a:t>H₁ </a:t>
            </a:r>
            <a:r>
              <a:rPr lang="en-US" altLang="en-US" dirty="0" smtClean="0">
                <a:solidFill>
                  <a:schemeClr val="tx2"/>
                </a:solidFill>
                <a:latin typeface="Arial" panose="020B0604020202020204" pitchFamily="34" charset="0"/>
              </a:rPr>
              <a:t>:  Altitude 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</a:rPr>
              <a:t>affects risk </a:t>
            </a:r>
          </a:p>
          <a:p>
            <a:endParaRPr lang="en-IN" dirty="0" smtClean="0"/>
          </a:p>
          <a:p>
            <a:endParaRPr lang="en-IN" dirty="0"/>
          </a:p>
          <a:p>
            <a:r>
              <a:rPr lang="en-IN" dirty="0" smtClean="0"/>
              <a:t>     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7003626" cy="709061"/>
          </a:xfrm>
        </p:spPr>
        <p:txBody>
          <a:bodyPr/>
          <a:lstStyle/>
          <a:p>
            <a:r>
              <a:rPr lang="en-US" b="1" dirty="0"/>
              <a:t>INSIGHTS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436889"/>
            <a:ext cx="9361815" cy="4829157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Most space objects are concentrated in specific orbital regions, indicating uneven distribution </a:t>
            </a:r>
            <a:endParaRPr lang="en-US" alt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Congestion risk is higher in densely populated orbits, especially in lower orbital regions </a:t>
            </a:r>
            <a:endParaRPr lang="en-US" alt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Altitude shows a statistically significant but very weak relationship with congestion risk </a:t>
            </a:r>
            <a:endParaRPr lang="en-US" alt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Orbital band provides better 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insight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into risk compared to raw altitude 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values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/>
              <a:t>Inclination varies across orbital regions, indicating different orbital behaviors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273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947" y="210687"/>
            <a:ext cx="8596668" cy="838467"/>
          </a:xfrm>
        </p:spPr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4946" y="1149937"/>
            <a:ext cx="11325369" cy="5183486"/>
          </a:xfrm>
        </p:spPr>
        <p:txBody>
          <a:bodyPr/>
          <a:lstStyle/>
          <a:p>
            <a:r>
              <a:rPr lang="en-US" dirty="0"/>
              <a:t>This project analyzed space debris data to understand congestion patterns and risk distribution across orbital regions</a:t>
            </a:r>
            <a:r>
              <a:rPr lang="en-US" dirty="0" smtClean="0"/>
              <a:t>.</a:t>
            </a:r>
          </a:p>
          <a:p>
            <a:r>
              <a:rPr lang="en-US" dirty="0"/>
              <a:t>While statistical tests show significance, altitude alone is not a strong predictor of risk. Instead, orbital classification provides more meaningful insights for managing space traffic</a:t>
            </a:r>
            <a:r>
              <a:rPr lang="en-US" dirty="0" smtClean="0"/>
              <a:t>.</a:t>
            </a:r>
          </a:p>
          <a:p>
            <a:r>
              <a:rPr lang="en-US" dirty="0"/>
              <a:t>Lower orbital regions show greater congestion due to active satellites and debris </a:t>
            </a:r>
            <a:r>
              <a:rPr lang="en-US" dirty="0" smtClean="0"/>
              <a:t>accumulation.</a:t>
            </a:r>
          </a:p>
          <a:p>
            <a:r>
              <a:rPr lang="en-US" dirty="0"/>
              <a:t>Altitude has a statistically significant but negligible practical impact on congestion </a:t>
            </a:r>
            <a:r>
              <a:rPr lang="en-US" dirty="0" smtClean="0"/>
              <a:t>risk</a:t>
            </a:r>
          </a:p>
          <a:p>
            <a:r>
              <a:rPr lang="en-US" dirty="0"/>
              <a:t>Orbital band is a more effective factor for analyzing and predicting debris risk</a:t>
            </a:r>
            <a:endParaRPr lang="en-US" dirty="0" smtClean="0"/>
          </a:p>
          <a:p>
            <a:r>
              <a:rPr lang="en-US" dirty="0"/>
              <a:t>Identifying high-risk zones can support better satellite placement and mission planning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96240"/>
            <a:ext cx="8596668" cy="1320800"/>
          </a:xfrm>
        </p:spPr>
        <p:txBody>
          <a:bodyPr/>
          <a:lstStyle/>
          <a:p>
            <a:r>
              <a:rPr lang="en-US" b="1" dirty="0"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218070"/>
            <a:ext cx="9466498" cy="5117450"/>
          </a:xfrm>
        </p:spPr>
        <p:txBody>
          <a:bodyPr>
            <a:normAutofit/>
          </a:bodyPr>
          <a:lstStyle/>
          <a:p>
            <a:r>
              <a:rPr lang="en-US" sz="2000" dirty="0"/>
              <a:t>Dataset is limited to available records and may not represent all space </a:t>
            </a:r>
            <a:r>
              <a:rPr lang="en-US" sz="2000" dirty="0" smtClean="0"/>
              <a:t>objects</a:t>
            </a:r>
          </a:p>
          <a:p>
            <a:r>
              <a:rPr lang="en-US" sz="2000" dirty="0"/>
              <a:t>Some variables (e.g., object size, velocity) are missing, limiting deeper </a:t>
            </a:r>
            <a:r>
              <a:rPr lang="en-US" sz="2000" dirty="0" smtClean="0"/>
              <a:t>analysis</a:t>
            </a:r>
          </a:p>
          <a:p>
            <a:r>
              <a:rPr lang="en-US" sz="2000" dirty="0"/>
              <a:t>External factors like space weather and orbital dynamics are not </a:t>
            </a:r>
            <a:r>
              <a:rPr lang="en-US" sz="2000" dirty="0" smtClean="0"/>
              <a:t>considered</a:t>
            </a:r>
          </a:p>
          <a:p>
            <a:r>
              <a:rPr lang="en-US" sz="2000" dirty="0"/>
              <a:t>No time-series analysis → cannot capture </a:t>
            </a:r>
            <a:r>
              <a:rPr lang="en-US" sz="2000" b="1" dirty="0"/>
              <a:t>changes in debris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66279"/>
            <a:ext cx="8575040" cy="4759641"/>
          </a:xfrm>
        </p:spPr>
        <p:txBody>
          <a:bodyPr>
            <a:normAutofit/>
          </a:bodyPr>
          <a:lstStyle/>
          <a:p>
            <a:r>
              <a:rPr lang="en-US" sz="2000" dirty="0"/>
              <a:t>Incorporate </a:t>
            </a:r>
            <a:r>
              <a:rPr lang="en-US" sz="2000" b="1" dirty="0"/>
              <a:t>real-time space debris data</a:t>
            </a:r>
            <a:r>
              <a:rPr lang="en-US" sz="2000" dirty="0"/>
              <a:t> for dynamic </a:t>
            </a:r>
            <a:r>
              <a:rPr lang="en-US" sz="2000" dirty="0" smtClean="0"/>
              <a:t>analysis.</a:t>
            </a:r>
          </a:p>
          <a:p>
            <a:r>
              <a:rPr lang="en-US" sz="2000" dirty="0"/>
              <a:t>Include additional features like </a:t>
            </a:r>
            <a:r>
              <a:rPr lang="en-US" sz="2000" b="1" dirty="0"/>
              <a:t>velocity, size, and mass</a:t>
            </a:r>
            <a:r>
              <a:rPr lang="en-US" sz="2000" dirty="0"/>
              <a:t> for better </a:t>
            </a:r>
            <a:r>
              <a:rPr lang="en-US" sz="2000" dirty="0" smtClean="0"/>
              <a:t>accuracy.</a:t>
            </a:r>
          </a:p>
          <a:p>
            <a:r>
              <a:rPr lang="en-US" sz="2000" dirty="0"/>
              <a:t>Develop </a:t>
            </a:r>
            <a:r>
              <a:rPr lang="en-US" sz="2000" b="1" dirty="0"/>
              <a:t>predictive models (ML/AI)</a:t>
            </a:r>
            <a:r>
              <a:rPr lang="en-US" sz="2000" dirty="0"/>
              <a:t> to forecast collision </a:t>
            </a:r>
            <a:r>
              <a:rPr lang="en-US" sz="2000" dirty="0" smtClean="0"/>
              <a:t>risks.</a:t>
            </a:r>
          </a:p>
          <a:p>
            <a:r>
              <a:rPr lang="en-US" sz="2000" dirty="0"/>
              <a:t>Perform </a:t>
            </a:r>
            <a:r>
              <a:rPr lang="en-US" sz="2000" b="1" dirty="0"/>
              <a:t>time-series analysis</a:t>
            </a:r>
            <a:r>
              <a:rPr lang="en-US" sz="2000" dirty="0"/>
              <a:t> to study debris trends over </a:t>
            </a:r>
            <a:r>
              <a:rPr lang="en-US" sz="2000" dirty="0" smtClean="0"/>
              <a:t>time.</a:t>
            </a:r>
          </a:p>
          <a:p>
            <a:r>
              <a:rPr lang="en-US" sz="2000" dirty="0"/>
              <a:t>Build an </a:t>
            </a:r>
            <a:r>
              <a:rPr lang="en-US" sz="2000" b="1" dirty="0"/>
              <a:t>interactive dashboard</a:t>
            </a:r>
            <a:r>
              <a:rPr lang="en-US" sz="2000" dirty="0"/>
              <a:t> for real-time monitoring and </a:t>
            </a:r>
            <a:r>
              <a:rPr lang="en-US" sz="2000" dirty="0" smtClean="0"/>
              <a:t>decision-making.</a:t>
            </a:r>
          </a:p>
          <a:p>
            <a:r>
              <a:rPr lang="en-US" sz="2000" dirty="0"/>
              <a:t>Apply advanced techniques like deep learning for anomaly </a:t>
            </a:r>
            <a:r>
              <a:rPr lang="en-US" sz="2000" dirty="0" smtClean="0"/>
              <a:t>detection</a:t>
            </a:r>
            <a:r>
              <a:rPr lang="en-US" sz="2000" b="1" dirty="0" smtClean="0"/>
              <a:t>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" y="289233"/>
            <a:ext cx="8596668" cy="970607"/>
          </a:xfrm>
        </p:spPr>
        <p:txBody>
          <a:bodyPr/>
          <a:lstStyle/>
          <a:p>
            <a:r>
              <a:rPr lang="en-US" b="1" dirty="0" smtClean="0"/>
              <a:t>REFERENCES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" y="1152833"/>
            <a:ext cx="1144016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700" dirty="0"/>
              <a:t>Dataset 1: Orbital Parameters Data </a:t>
            </a:r>
            <a:r>
              <a:rPr lang="en-IN" sz="1700" dirty="0">
                <a:solidFill>
                  <a:schemeClr val="accent2">
                    <a:lumMod val="75000"/>
                  </a:schemeClr>
                </a:solidFill>
              </a:rPr>
              <a:t>-&gt; </a:t>
            </a:r>
            <a:r>
              <a:rPr lang="en-IN" sz="1700" u="sng" dirty="0">
                <a:solidFill>
                  <a:schemeClr val="accent2">
                    <a:lumMod val="75000"/>
                  </a:schemeClr>
                </a:solidFill>
                <a:hlinkClick r:id="rId2"/>
              </a:rPr>
              <a:t>https://svs.gsfc.nasa.gov/5258</a:t>
            </a:r>
            <a:r>
              <a:rPr lang="en-IN" sz="1700" u="sng" dirty="0" smtClean="0">
                <a:solidFill>
                  <a:schemeClr val="accent2">
                    <a:lumMod val="75000"/>
                  </a:schemeClr>
                </a:solidFill>
                <a:hlinkClick r:id="rId2"/>
              </a:rPr>
              <a:t>/</a:t>
            </a:r>
            <a:r>
              <a:rPr lang="en-IN" sz="1700" u="sng" dirty="0" smtClean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en-IN" sz="1700" u="sng" dirty="0" smtClean="0">
                <a:solidFill>
                  <a:schemeClr val="accent1">
                    <a:lumMod val="50000"/>
                  </a:schemeClr>
                </a:solidFill>
              </a:rPr>
              <a:t>(USA </a:t>
            </a:r>
            <a:r>
              <a:rPr lang="en-IN" sz="1700" u="sng" dirty="0" err="1" smtClean="0">
                <a:solidFill>
                  <a:schemeClr val="accent1">
                    <a:lumMod val="50000"/>
                  </a:schemeClr>
                </a:solidFill>
              </a:rPr>
              <a:t>Gov</a:t>
            </a:r>
            <a:r>
              <a:rPr lang="en-IN" sz="1700" u="sng" dirty="0" smtClean="0">
                <a:solidFill>
                  <a:schemeClr val="accent1">
                    <a:lumMod val="50000"/>
                  </a:schemeClr>
                </a:solidFill>
              </a:rPr>
              <a:t> and NASA)</a:t>
            </a:r>
          </a:p>
          <a:p>
            <a:pPr marL="0" indent="0">
              <a:buNone/>
            </a:pPr>
            <a:endParaRPr lang="en-IN" sz="1700" u="sng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1700" dirty="0"/>
              <a:t>Dataset 2: Object Information </a:t>
            </a:r>
            <a:r>
              <a:rPr lang="en-US" sz="1700" dirty="0" smtClean="0"/>
              <a:t>Data -&gt;</a:t>
            </a:r>
            <a:r>
              <a:rPr lang="en-US" sz="1700" dirty="0" smtClean="0">
                <a:solidFill>
                  <a:schemeClr val="accent2">
                    <a:lumMod val="75000"/>
                  </a:schemeClr>
                </a:solidFill>
              </a:rPr>
              <a:t>https</a:t>
            </a:r>
            <a:r>
              <a:rPr lang="en-US" sz="1700" dirty="0">
                <a:solidFill>
                  <a:schemeClr val="accent2">
                    <a:lumMod val="75000"/>
                  </a:schemeClr>
                </a:solidFill>
              </a:rPr>
              <a:t>://</a:t>
            </a:r>
            <a:r>
              <a:rPr lang="en-US" sz="1700" dirty="0" smtClean="0">
                <a:solidFill>
                  <a:schemeClr val="accent2">
                    <a:lumMod val="75000"/>
                  </a:schemeClr>
                </a:solidFill>
              </a:rPr>
              <a:t>svs.gsfc.nasa.gov/5258</a:t>
            </a:r>
            <a:r>
              <a:rPr lang="en-US" sz="1700" dirty="0">
                <a:solidFill>
                  <a:schemeClr val="accent2">
                    <a:lumMod val="75000"/>
                  </a:schemeClr>
                </a:solidFill>
              </a:rPr>
              <a:t>/#</a:t>
            </a:r>
            <a:r>
              <a:rPr lang="en-US" sz="1700" dirty="0" smtClean="0">
                <a:solidFill>
                  <a:schemeClr val="accent2">
                    <a:lumMod val="75000"/>
                  </a:schemeClr>
                </a:solidFill>
              </a:rPr>
              <a:t>media_group_373927</a:t>
            </a:r>
          </a:p>
          <a:p>
            <a:pPr marL="0" indent="0">
              <a:buNone/>
            </a:pPr>
            <a:endParaRPr lang="en-US" sz="17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700" b="1" dirty="0"/>
              <a:t>Paper </a:t>
            </a:r>
            <a:r>
              <a:rPr lang="en-US" sz="1700" b="1" dirty="0" smtClean="0"/>
              <a:t>References</a:t>
            </a:r>
          </a:p>
          <a:p>
            <a:pPr marL="0" indent="0">
              <a:buNone/>
            </a:pPr>
            <a:endParaRPr lang="en-US" sz="17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IN" sz="1700" dirty="0"/>
              <a:t>National Aeronautics and Space Administration. </a:t>
            </a:r>
            <a:r>
              <a:rPr lang="en-IN" sz="1700" i="1" dirty="0"/>
              <a:t>Space Sustainability Strategy, Volume 1: Earth Orbit</a:t>
            </a:r>
            <a:r>
              <a:rPr lang="en-IN" sz="1700" dirty="0"/>
              <a:t>; NASA Headquarters: Washington, DC, USA, 2024. Available online: </a:t>
            </a:r>
            <a:r>
              <a:rPr lang="en-IN" sz="1700" b="1" dirty="0">
                <a:hlinkClick r:id="rId3"/>
              </a:rPr>
              <a:t>https://www.nasa.gov/wp-content/uploads/2024/04/nasa-space-sustainability-strategy-march-20-2024-tagged3.pdf</a:t>
            </a:r>
            <a:r>
              <a:rPr lang="en-IN" sz="1700" dirty="0"/>
              <a:t> (accessed on 20 December 2025</a:t>
            </a:r>
            <a:r>
              <a:rPr lang="en-IN" sz="1700" dirty="0" smtClean="0"/>
              <a:t>).</a:t>
            </a:r>
            <a:endParaRPr lang="en-IN" sz="1700" dirty="0"/>
          </a:p>
          <a:p>
            <a:endParaRPr lang="en-IN" sz="1700" dirty="0"/>
          </a:p>
          <a:p>
            <a:r>
              <a:rPr lang="en-IN" sz="1700" dirty="0" err="1"/>
              <a:t>Boley</a:t>
            </a:r>
            <a:r>
              <a:rPr lang="en-IN" sz="1700" dirty="0"/>
              <a:t>, A.C.; Byers, M. Satellite mega-constellations create risks in Low Earth Orbit, the atmosphere and on Earth. </a:t>
            </a:r>
            <a:r>
              <a:rPr lang="en-IN" sz="1700" i="1" dirty="0"/>
              <a:t>Sci. Rep.</a:t>
            </a:r>
            <a:r>
              <a:rPr lang="en-IN" sz="1700" dirty="0"/>
              <a:t> </a:t>
            </a:r>
            <a:r>
              <a:rPr lang="en-IN" sz="1700" b="1" dirty="0"/>
              <a:t>2021</a:t>
            </a:r>
            <a:r>
              <a:rPr lang="en-IN" sz="1700" dirty="0"/>
              <a:t>, </a:t>
            </a:r>
            <a:r>
              <a:rPr lang="en-IN" sz="1700" i="1" dirty="0"/>
              <a:t>11</a:t>
            </a:r>
            <a:r>
              <a:rPr lang="en-IN" sz="1700" dirty="0"/>
              <a:t>, 10642. </a:t>
            </a:r>
            <a:endParaRPr lang="en-US" sz="1700" u="sng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4374" y="2672080"/>
            <a:ext cx="8596668" cy="1320800"/>
          </a:xfrm>
        </p:spPr>
        <p:txBody>
          <a:bodyPr>
            <a:normAutofit/>
          </a:bodyPr>
          <a:lstStyle/>
          <a:p>
            <a:r>
              <a:rPr lang="en-US" sz="5500" b="1" dirty="0"/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523</TotalTime>
  <Words>1200</Words>
  <Application>Microsoft Office PowerPoint</Application>
  <PresentationFormat>Widescreen</PresentationFormat>
  <Paragraphs>184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Trebuchet MS</vt:lpstr>
      <vt:lpstr>Wingdings 3</vt:lpstr>
      <vt:lpstr>Facet</vt:lpstr>
      <vt:lpstr>DATA ANALYTICS / DATA VISUALISATION INTERNSHIP</vt:lpstr>
      <vt:lpstr>INTRODUCTION</vt:lpstr>
      <vt:lpstr>PROBLEM STATEMENT</vt:lpstr>
      <vt:lpstr>OBJECTIVES</vt:lpstr>
      <vt:lpstr>BUSINESS CONTEXT</vt:lpstr>
      <vt:lpstr>METHODOLOGY</vt:lpstr>
      <vt:lpstr>TOOLS &amp; TECHNOLOGIES USED</vt:lpstr>
      <vt:lpstr>DATA SOURCES</vt:lpstr>
      <vt:lpstr>ER DIAGRAM</vt:lpstr>
      <vt:lpstr>PowerPoint Presentation</vt:lpstr>
      <vt:lpstr>KEY ANALYTICAL QUESTIONS</vt:lpstr>
      <vt:lpstr>EDA - VISUALISATION 1: </vt:lpstr>
      <vt:lpstr>EDA - VISUALISATION 2:</vt:lpstr>
      <vt:lpstr>EDA - VISUALISATION 3:</vt:lpstr>
      <vt:lpstr>PowerPoint Presentation</vt:lpstr>
      <vt:lpstr>STATISTICAL ANALYSIS</vt:lpstr>
      <vt:lpstr>PowerPoint Presentation</vt:lpstr>
      <vt:lpstr>INSIGHTS SUMMARY</vt:lpstr>
      <vt:lpstr>CONCLUSION</vt:lpstr>
      <vt:lpstr>LIMITATIONS</vt:lpstr>
      <vt:lpstr>FUTURE SCOPE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/ DATA VISUALISATION INTERNSHIP</dc:title>
  <dc:subject/>
  <dc:creator>Mahima M</dc:creator>
  <cp:keywords/>
  <dc:description>generated using python-pptx</dc:description>
  <cp:lastModifiedBy>DELL</cp:lastModifiedBy>
  <cp:revision>20</cp:revision>
  <dcterms:created xsi:type="dcterms:W3CDTF">2013-01-27T09:14:16Z</dcterms:created>
  <dcterms:modified xsi:type="dcterms:W3CDTF">2026-04-28T06:29:36Z</dcterms:modified>
  <cp:category/>
</cp:coreProperties>
</file>